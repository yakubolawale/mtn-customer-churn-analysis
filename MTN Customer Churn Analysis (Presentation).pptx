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7" r:id="rId2"/>
    <p:sldId id="269" r:id="rId3"/>
    <p:sldId id="270" r:id="rId4"/>
    <p:sldId id="271" r:id="rId5"/>
    <p:sldId id="258" r:id="rId6"/>
    <p:sldId id="259" r:id="rId7"/>
    <p:sldId id="260" r:id="rId8"/>
    <p:sldId id="261" r:id="rId9"/>
    <p:sldId id="262" r:id="rId10"/>
    <p:sldId id="263" r:id="rId11"/>
    <p:sldId id="264" r:id="rId12"/>
    <p:sldId id="265" r:id="rId13"/>
    <p:sldId id="266"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snapToGrid="0">
      <p:cViewPr varScale="1">
        <p:scale>
          <a:sx n="71" d="100"/>
          <a:sy n="71" d="100"/>
        </p:scale>
        <p:origin x="68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3A834-D8EE-4C7C-8F84-E200B65D11D1}"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35E3D3-CF3B-453E-8E47-8B0612CD59C9}" type="slidenum">
              <a:rPr lang="en-US" smtClean="0"/>
              <a:t>‹#›</a:t>
            </a:fld>
            <a:endParaRPr lang="en-US"/>
          </a:p>
        </p:txBody>
      </p:sp>
    </p:spTree>
    <p:extLst>
      <p:ext uri="{BB962C8B-B14F-4D97-AF65-F5344CB8AC3E}">
        <p14:creationId xmlns:p14="http://schemas.microsoft.com/office/powerpoint/2010/main" val="842467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3B304-46E2-AF50-135D-3A0637A6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C56CF-330B-93EA-5C66-34862F227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B9F54-9C2C-FC0C-1D3C-F7E2C4B3C2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8FC660-71FA-FACA-DED1-F8CDE428A18A}"/>
              </a:ext>
            </a:extLst>
          </p:cNvPr>
          <p:cNvSpPr>
            <a:spLocks noGrp="1"/>
          </p:cNvSpPr>
          <p:nvPr>
            <p:ph type="sldNum" sz="quarter" idx="5"/>
          </p:nvPr>
        </p:nvSpPr>
        <p:spPr/>
        <p:txBody>
          <a:bodyPr/>
          <a:lstStyle/>
          <a:p>
            <a:fld id="{FE35E3D3-CF3B-453E-8E47-8B0612CD59C9}" type="slidenum">
              <a:rPr lang="en-US" smtClean="0"/>
              <a:t>2</a:t>
            </a:fld>
            <a:endParaRPr lang="en-US"/>
          </a:p>
        </p:txBody>
      </p:sp>
    </p:spTree>
    <p:extLst>
      <p:ext uri="{BB962C8B-B14F-4D97-AF65-F5344CB8AC3E}">
        <p14:creationId xmlns:p14="http://schemas.microsoft.com/office/powerpoint/2010/main" val="1716084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A1E4-06B0-E06D-8756-96FE02BE4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C8EAC-BBC5-43CD-CA50-DFCDC3AAF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82392-D041-3A3D-C1CA-2F206CFD19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796A90-1E48-22F7-9B76-15F9A5F74163}"/>
              </a:ext>
            </a:extLst>
          </p:cNvPr>
          <p:cNvSpPr>
            <a:spLocks noGrp="1"/>
          </p:cNvSpPr>
          <p:nvPr>
            <p:ph type="sldNum" sz="quarter" idx="5"/>
          </p:nvPr>
        </p:nvSpPr>
        <p:spPr/>
        <p:txBody>
          <a:bodyPr/>
          <a:lstStyle/>
          <a:p>
            <a:fld id="{FE35E3D3-CF3B-453E-8E47-8B0612CD59C9}" type="slidenum">
              <a:rPr lang="en-US" smtClean="0"/>
              <a:t>3</a:t>
            </a:fld>
            <a:endParaRPr lang="en-US"/>
          </a:p>
        </p:txBody>
      </p:sp>
    </p:spTree>
    <p:extLst>
      <p:ext uri="{BB962C8B-B14F-4D97-AF65-F5344CB8AC3E}">
        <p14:creationId xmlns:p14="http://schemas.microsoft.com/office/powerpoint/2010/main" val="114744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EC069-9A4F-8A2A-0419-D665BCCC1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5B8DC-8793-1CEF-CF18-D20702CBE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113C7-A8C2-12D5-5600-6C2782D9D3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A53633-65F1-FB9F-B809-A9B36E3391A4}"/>
              </a:ext>
            </a:extLst>
          </p:cNvPr>
          <p:cNvSpPr>
            <a:spLocks noGrp="1"/>
          </p:cNvSpPr>
          <p:nvPr>
            <p:ph type="sldNum" sz="quarter" idx="5"/>
          </p:nvPr>
        </p:nvSpPr>
        <p:spPr/>
        <p:txBody>
          <a:bodyPr/>
          <a:lstStyle/>
          <a:p>
            <a:fld id="{FE35E3D3-CF3B-453E-8E47-8B0612CD59C9}" type="slidenum">
              <a:rPr lang="en-US" smtClean="0"/>
              <a:t>4</a:t>
            </a:fld>
            <a:endParaRPr lang="en-US"/>
          </a:p>
        </p:txBody>
      </p:sp>
    </p:spTree>
    <p:extLst>
      <p:ext uri="{BB962C8B-B14F-4D97-AF65-F5344CB8AC3E}">
        <p14:creationId xmlns:p14="http://schemas.microsoft.com/office/powerpoint/2010/main" val="167043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35E3D3-CF3B-453E-8E47-8B0612CD59C9}" type="slidenum">
              <a:rPr lang="en-US" smtClean="0"/>
              <a:t>6</a:t>
            </a:fld>
            <a:endParaRPr lang="en-US"/>
          </a:p>
        </p:txBody>
      </p:sp>
    </p:spTree>
    <p:extLst>
      <p:ext uri="{BB962C8B-B14F-4D97-AF65-F5344CB8AC3E}">
        <p14:creationId xmlns:p14="http://schemas.microsoft.com/office/powerpoint/2010/main" val="1475870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7A5B-6E47-5475-75BB-FAC9F204E6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DE136E-A671-A0AF-3FFD-8A2EB8F0E4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B2FB99-2F7C-5EBA-B195-0BCC3F33F6B4}"/>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5" name="Footer Placeholder 4">
            <a:extLst>
              <a:ext uri="{FF2B5EF4-FFF2-40B4-BE49-F238E27FC236}">
                <a16:creationId xmlns:a16="http://schemas.microsoft.com/office/drawing/2014/main" id="{71391CC6-E557-004B-979A-C0D496F13B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118C8-5AE0-8B2E-5078-98EC76D60885}"/>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180352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CAAD-D5D3-F7AF-DECB-C73DD4B436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385DFA-2C57-33E2-F5B9-14F75F220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29FD48-3246-D036-386A-B12D0D858C24}"/>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5" name="Footer Placeholder 4">
            <a:extLst>
              <a:ext uri="{FF2B5EF4-FFF2-40B4-BE49-F238E27FC236}">
                <a16:creationId xmlns:a16="http://schemas.microsoft.com/office/drawing/2014/main" id="{6D65D29A-C9D8-EEAB-5D84-92D7DD7D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616A99-1A04-17FF-F4C6-FAE1E42A6F6C}"/>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12278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C824-9FBD-3145-2C36-307019391C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935BFF-2A35-A140-371D-7F9862C059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7D9562-A4D2-9F5F-574E-288A3F3B9FFE}"/>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5" name="Footer Placeholder 4">
            <a:extLst>
              <a:ext uri="{FF2B5EF4-FFF2-40B4-BE49-F238E27FC236}">
                <a16:creationId xmlns:a16="http://schemas.microsoft.com/office/drawing/2014/main" id="{678CDE6C-6A39-D66D-D701-B5064D5A4B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D5CBD3-F5AE-7A68-E177-9172AD5A6DE4}"/>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1610412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E548-BC0E-821C-6315-7C0109E589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A82974-17F1-3C66-2BD2-28A893439D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5FEC32-1C25-4A56-6676-4D191A5488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DADA50-FD54-B380-83D3-EDA65CB7DB12}"/>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6" name="Footer Placeholder 5">
            <a:extLst>
              <a:ext uri="{FF2B5EF4-FFF2-40B4-BE49-F238E27FC236}">
                <a16:creationId xmlns:a16="http://schemas.microsoft.com/office/drawing/2014/main" id="{F5CB525B-7C2B-BF85-53B5-8F8BED08BB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5C77BF-34C3-D80B-E987-783CD9B8E75E}"/>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2165198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3F3F9-7BC3-F31B-9DF0-7474F9CE04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0FB99F-7C6E-302F-AFE7-4F4DC832A0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411DF-027B-2F1D-097A-7B5A0A6A59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C4BA15-FAB2-BBD4-1328-8CC100B9AD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66C24C-99F6-8204-DE4D-3680E042FF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BD100C-FABA-68B5-BEAB-9191265F1700}"/>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8" name="Footer Placeholder 7">
            <a:extLst>
              <a:ext uri="{FF2B5EF4-FFF2-40B4-BE49-F238E27FC236}">
                <a16:creationId xmlns:a16="http://schemas.microsoft.com/office/drawing/2014/main" id="{FE8767A8-361A-29A6-898C-0659BC3BA3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8BACF4-FAAA-B382-11A8-2E2108C6D3EB}"/>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332326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EEC4-FBDB-61C5-EAF5-A9F7585277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FB1986-85DA-8AE8-333D-247C42E4ED91}"/>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4" name="Footer Placeholder 3">
            <a:extLst>
              <a:ext uri="{FF2B5EF4-FFF2-40B4-BE49-F238E27FC236}">
                <a16:creationId xmlns:a16="http://schemas.microsoft.com/office/drawing/2014/main" id="{65AE46FD-0C34-3F1B-F1DA-E262C5B96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2CBFE8-859E-7AC6-86F4-6500EDFF39D9}"/>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433301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56363A-FC6C-C963-4535-DA72C9D4CB18}"/>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3" name="Footer Placeholder 2">
            <a:extLst>
              <a:ext uri="{FF2B5EF4-FFF2-40B4-BE49-F238E27FC236}">
                <a16:creationId xmlns:a16="http://schemas.microsoft.com/office/drawing/2014/main" id="{9CBFE853-78D4-4B65-459E-4A9F77FC01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FDD311-7409-B84A-ECAC-9746A53218A9}"/>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1609700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839C-93DC-BA20-5078-C27ADA475E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623CB2-7850-1B8B-F76D-2135245A1F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78BBC6-61B7-55CF-4C88-B421EAF17A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39602-CE78-EF65-05B7-333D7E48DC78}"/>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6" name="Footer Placeholder 5">
            <a:extLst>
              <a:ext uri="{FF2B5EF4-FFF2-40B4-BE49-F238E27FC236}">
                <a16:creationId xmlns:a16="http://schemas.microsoft.com/office/drawing/2014/main" id="{915C2C13-4B30-6F76-EA88-D1B5F83A2C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1C6A9C-A786-1D09-DD76-81D4C5567481}"/>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3423619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B053-7DEE-D3D9-F82D-391472F9C4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1F9975-78B8-B492-0FB3-8C87C38E9F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482D15-5108-CEFD-DBF0-217EBE3C6A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BC206E-4817-BC1B-3A34-25C08D6B5FE5}"/>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6" name="Footer Placeholder 5">
            <a:extLst>
              <a:ext uri="{FF2B5EF4-FFF2-40B4-BE49-F238E27FC236}">
                <a16:creationId xmlns:a16="http://schemas.microsoft.com/office/drawing/2014/main" id="{676427B1-E1F5-6C12-8E9D-E2170096A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5F5FE7-DB69-E633-2EDC-A092C32ADDEA}"/>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1794848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FF912-0408-D17F-172F-1895C42FA2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1396E6-F06C-DC64-DB46-3BD097CA30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DB6D0C-9C06-4C1D-340F-2584AC7EA7D5}"/>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5" name="Footer Placeholder 4">
            <a:extLst>
              <a:ext uri="{FF2B5EF4-FFF2-40B4-BE49-F238E27FC236}">
                <a16:creationId xmlns:a16="http://schemas.microsoft.com/office/drawing/2014/main" id="{0EFDF73B-C5A7-4069-D432-87E4EC0D0C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87442-887C-6831-978D-529541B2CFCB}"/>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2645052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B6579D-85C0-2C35-A962-FB2C5E48FB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838349-06A0-3795-821B-8F9CD685E0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7E8739-4D32-FF87-1325-F2F5A9A0904C}"/>
              </a:ext>
            </a:extLst>
          </p:cNvPr>
          <p:cNvSpPr>
            <a:spLocks noGrp="1"/>
          </p:cNvSpPr>
          <p:nvPr>
            <p:ph type="dt" sz="half" idx="10"/>
          </p:nvPr>
        </p:nvSpPr>
        <p:spPr/>
        <p:txBody>
          <a:bodyPr/>
          <a:lstStyle/>
          <a:p>
            <a:fld id="{EFD0CF9F-763A-47F4-89D6-769BCBFA5478}" type="datetimeFigureOut">
              <a:rPr lang="en-US" smtClean="0"/>
              <a:t>7/20/2026</a:t>
            </a:fld>
            <a:endParaRPr lang="en-US"/>
          </a:p>
        </p:txBody>
      </p:sp>
      <p:sp>
        <p:nvSpPr>
          <p:cNvPr id="5" name="Footer Placeholder 4">
            <a:extLst>
              <a:ext uri="{FF2B5EF4-FFF2-40B4-BE49-F238E27FC236}">
                <a16:creationId xmlns:a16="http://schemas.microsoft.com/office/drawing/2014/main" id="{965F1B9C-4455-7D7E-B586-879557A0DE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D4627D-6E13-2F5D-263E-7F89832ABD80}"/>
              </a:ext>
            </a:extLst>
          </p:cNvPr>
          <p:cNvSpPr>
            <a:spLocks noGrp="1"/>
          </p:cNvSpPr>
          <p:nvPr>
            <p:ph type="sldNum" sz="quarter" idx="12"/>
          </p:nvPr>
        </p:nvSpPr>
        <p:spPr/>
        <p:txBody>
          <a:bodyPr/>
          <a:lstStyle/>
          <a:p>
            <a:fld id="{51661347-FB93-4717-9B35-83AF49346DB1}" type="slidenum">
              <a:rPr lang="en-US" smtClean="0"/>
              <a:t>‹#›</a:t>
            </a:fld>
            <a:endParaRPr lang="en-US"/>
          </a:p>
        </p:txBody>
      </p:sp>
    </p:spTree>
    <p:extLst>
      <p:ext uri="{BB962C8B-B14F-4D97-AF65-F5344CB8AC3E}">
        <p14:creationId xmlns:p14="http://schemas.microsoft.com/office/powerpoint/2010/main" val="246844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3DE627-F5F7-6766-404F-46B808476F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0A7D6E-1F68-CBF8-B81D-2650E0199A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BDFA19-373B-84A3-1872-E91E86E70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D0CF9F-763A-47F4-89D6-769BCBFA5478}" type="datetimeFigureOut">
              <a:rPr lang="en-US" smtClean="0"/>
              <a:t>7/20/2026</a:t>
            </a:fld>
            <a:endParaRPr lang="en-US"/>
          </a:p>
        </p:txBody>
      </p:sp>
      <p:sp>
        <p:nvSpPr>
          <p:cNvPr id="5" name="Footer Placeholder 4">
            <a:extLst>
              <a:ext uri="{FF2B5EF4-FFF2-40B4-BE49-F238E27FC236}">
                <a16:creationId xmlns:a16="http://schemas.microsoft.com/office/drawing/2014/main" id="{CAA97FDA-EB1C-4ED8-C13E-62A01A9C65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F5333D6-8FFC-129F-AEE8-BDED6CF8EC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661347-FB93-4717-9B35-83AF49346DB1}" type="slidenum">
              <a:rPr lang="en-US" smtClean="0"/>
              <a:t>‹#›</a:t>
            </a:fld>
            <a:endParaRPr lang="en-US"/>
          </a:p>
        </p:txBody>
      </p:sp>
    </p:spTree>
    <p:extLst>
      <p:ext uri="{BB962C8B-B14F-4D97-AF65-F5344CB8AC3E}">
        <p14:creationId xmlns:p14="http://schemas.microsoft.com/office/powerpoint/2010/main" val="1861549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50FB-0749-A568-762F-FF53F06AE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C7FDB-9D99-2E13-102F-AF0B853D749C}"/>
              </a:ext>
            </a:extLst>
          </p:cNvPr>
          <p:cNvSpPr>
            <a:spLocks noGrp="1"/>
          </p:cNvSpPr>
          <p:nvPr>
            <p:ph type="ctrTitle"/>
          </p:nvPr>
        </p:nvSpPr>
        <p:spPr>
          <a:xfrm>
            <a:off x="2088775" y="2013513"/>
            <a:ext cx="7687235" cy="497543"/>
          </a:xfrm>
        </p:spPr>
        <p:txBody>
          <a:bodyPr>
            <a:normAutofit fontScale="90000"/>
          </a:bodyPr>
          <a:lstStyle/>
          <a:p>
            <a:r>
              <a:rPr lang="en-US" sz="3200" b="1" dirty="0">
                <a:latin typeface="Calibri" panose="020F0502020204030204" pitchFamily="34" charset="0"/>
                <a:cs typeface="Calibri" panose="020F0502020204030204" pitchFamily="34" charset="0"/>
              </a:rPr>
              <a:t>MTN Customer Churn Analysis Dashboard</a:t>
            </a:r>
          </a:p>
        </p:txBody>
      </p:sp>
      <p:sp>
        <p:nvSpPr>
          <p:cNvPr id="3" name="Subtitle 2">
            <a:extLst>
              <a:ext uri="{FF2B5EF4-FFF2-40B4-BE49-F238E27FC236}">
                <a16:creationId xmlns:a16="http://schemas.microsoft.com/office/drawing/2014/main" id="{3D679A3E-222F-4D5F-F15B-AE4956B52174}"/>
              </a:ext>
            </a:extLst>
          </p:cNvPr>
          <p:cNvSpPr>
            <a:spLocks noGrp="1"/>
          </p:cNvSpPr>
          <p:nvPr>
            <p:ph type="subTitle" idx="1"/>
          </p:nvPr>
        </p:nvSpPr>
        <p:spPr>
          <a:xfrm>
            <a:off x="959225" y="2514598"/>
            <a:ext cx="9144000" cy="497543"/>
          </a:xfrm>
        </p:spPr>
        <p:txBody>
          <a:bodyPr/>
          <a:lstStyle/>
          <a:p>
            <a:r>
              <a:rPr lang="en-US" dirty="0">
                <a:latin typeface="Calibri" panose="020F0502020204030204" pitchFamily="34" charset="0"/>
                <a:cs typeface="Calibri" panose="020F0502020204030204" pitchFamily="34" charset="0"/>
              </a:rPr>
              <a:t>Turning Customer Data into Strategic Business Insights using Power  BI </a:t>
            </a:r>
          </a:p>
        </p:txBody>
      </p:sp>
      <p:sp>
        <p:nvSpPr>
          <p:cNvPr id="4" name="Subtitle 2">
            <a:extLst>
              <a:ext uri="{FF2B5EF4-FFF2-40B4-BE49-F238E27FC236}">
                <a16:creationId xmlns:a16="http://schemas.microsoft.com/office/drawing/2014/main" id="{B6774005-9360-6BDD-685A-57AE249BDA51}"/>
              </a:ext>
            </a:extLst>
          </p:cNvPr>
          <p:cNvSpPr txBox="1">
            <a:spLocks/>
          </p:cNvSpPr>
          <p:nvPr/>
        </p:nvSpPr>
        <p:spPr>
          <a:xfrm>
            <a:off x="1255059" y="4605616"/>
            <a:ext cx="9144000" cy="49754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Calibri" panose="020F0502020204030204" pitchFamily="34" charset="0"/>
                <a:cs typeface="Calibri" panose="020F0502020204030204" pitchFamily="34" charset="0"/>
              </a:rPr>
              <a:t>Yakub Olawale Moshood </a:t>
            </a:r>
          </a:p>
        </p:txBody>
      </p:sp>
      <p:sp>
        <p:nvSpPr>
          <p:cNvPr id="5" name="Rectangle 4">
            <a:extLst>
              <a:ext uri="{FF2B5EF4-FFF2-40B4-BE49-F238E27FC236}">
                <a16:creationId xmlns:a16="http://schemas.microsoft.com/office/drawing/2014/main" id="{5D09FFE5-616B-D6B6-FAD6-BF8973D6477D}"/>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Block Arc 6">
            <a:extLst>
              <a:ext uri="{FF2B5EF4-FFF2-40B4-BE49-F238E27FC236}">
                <a16:creationId xmlns:a16="http://schemas.microsoft.com/office/drawing/2014/main" id="{A287B7A3-C72E-D2B3-7F6C-5586B9A459B4}"/>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 name="Picture 8">
            <a:extLst>
              <a:ext uri="{FF2B5EF4-FFF2-40B4-BE49-F238E27FC236}">
                <a16:creationId xmlns:a16="http://schemas.microsoft.com/office/drawing/2014/main" id="{71599EEC-23A3-3E1D-0295-13B1490633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1974" y="743176"/>
            <a:ext cx="2089849" cy="1051537"/>
          </a:xfrm>
          <a:prstGeom prst="rect">
            <a:avLst/>
          </a:prstGeom>
        </p:spPr>
      </p:pic>
    </p:spTree>
    <p:extLst>
      <p:ext uri="{BB962C8B-B14F-4D97-AF65-F5344CB8AC3E}">
        <p14:creationId xmlns:p14="http://schemas.microsoft.com/office/powerpoint/2010/main" val="1827758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1D783-C393-7688-DA00-79DE29C38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88435-D639-6C3B-80A1-8C2165FB9D39}"/>
              </a:ext>
            </a:extLst>
          </p:cNvPr>
          <p:cNvSpPr>
            <a:spLocks noGrp="1"/>
          </p:cNvSpPr>
          <p:nvPr>
            <p:ph type="title"/>
          </p:nvPr>
        </p:nvSpPr>
        <p:spPr>
          <a:xfrm>
            <a:off x="623047" y="198997"/>
            <a:ext cx="2698376" cy="482040"/>
          </a:xfrm>
        </p:spPr>
        <p:txBody>
          <a:bodyPr>
            <a:normAutofit/>
          </a:bodyPr>
          <a:lstStyle/>
          <a:p>
            <a:r>
              <a:rPr lang="en-US" sz="1400" b="1" dirty="0">
                <a:latin typeface="Calibri" panose="020F0502020204030204" pitchFamily="34" charset="0"/>
                <a:cs typeface="Calibri" panose="020F0502020204030204" pitchFamily="34" charset="0"/>
              </a:rPr>
              <a:t>Project Overview</a:t>
            </a:r>
          </a:p>
        </p:txBody>
      </p:sp>
      <p:sp>
        <p:nvSpPr>
          <p:cNvPr id="3" name="Content Placeholder 2">
            <a:extLst>
              <a:ext uri="{FF2B5EF4-FFF2-40B4-BE49-F238E27FC236}">
                <a16:creationId xmlns:a16="http://schemas.microsoft.com/office/drawing/2014/main" id="{8260C43E-E065-2A15-55A1-B366FDF7E8A1}"/>
              </a:ext>
            </a:extLst>
          </p:cNvPr>
          <p:cNvSpPr>
            <a:spLocks noGrp="1"/>
          </p:cNvSpPr>
          <p:nvPr>
            <p:ph idx="1"/>
          </p:nvPr>
        </p:nvSpPr>
        <p:spPr>
          <a:xfrm>
            <a:off x="623047" y="586908"/>
            <a:ext cx="10820400" cy="5495926"/>
          </a:xfrm>
        </p:spPr>
        <p:txBody>
          <a:bodyPr>
            <a:normAutofit/>
          </a:bodyPr>
          <a:lstStyle/>
          <a:p>
            <a:pPr marL="0" indent="0">
              <a:buNone/>
            </a:pPr>
            <a:r>
              <a:rPr lang="en-US" sz="1400" dirty="0">
                <a:latin typeface="Calibri" panose="020F0502020204030204" pitchFamily="34" charset="0"/>
                <a:cs typeface="Calibri" panose="020F0502020204030204" pitchFamily="34" charset="0"/>
              </a:rPr>
              <a:t>Customer retention is one of the most critical success factor in the telecommunication industry. Acquiring new customer is significantly more expensive than retaining existing ones, making customer churn a major business concern. This project was develop to analyze customer behavior, identify the factor contributing to churn, evaluate revenue performance, and provide data-driven recommendations that support strategic decision making.</a:t>
            </a:r>
          </a:p>
          <a:p>
            <a:pPr marL="0" indent="0">
              <a:buNone/>
            </a:pPr>
            <a:r>
              <a:rPr lang="en-US" sz="1400" dirty="0">
                <a:latin typeface="Calibri" panose="020F0502020204030204" pitchFamily="34" charset="0"/>
                <a:cs typeface="Calibri" panose="020F0502020204030204" pitchFamily="34" charset="0"/>
              </a:rPr>
              <a:t>I transformed raw customer data into an interactive Business intelligent solution consisting of five executive dashboard designed to help management understand customer trends and improve retention strategies.</a:t>
            </a:r>
          </a:p>
          <a:p>
            <a:pPr marL="0" indent="0">
              <a:buNone/>
            </a:pPr>
            <a:r>
              <a:rPr lang="en-US" sz="1400" b="1" dirty="0">
                <a:latin typeface="Calibri" panose="020F0502020204030204" pitchFamily="34" charset="0"/>
                <a:cs typeface="Calibri" panose="020F0502020204030204" pitchFamily="34" charset="0"/>
              </a:rPr>
              <a:t>Business Problem</a:t>
            </a:r>
            <a:endParaRPr lang="en-US" sz="1400" dirty="0">
              <a:latin typeface="Calibri" panose="020F0502020204030204" pitchFamily="34" charset="0"/>
              <a:cs typeface="Calibri" panose="020F0502020204030204" pitchFamily="34" charset="0"/>
            </a:endParaRPr>
          </a:p>
          <a:p>
            <a:pPr marL="0" indent="0">
              <a:buNone/>
            </a:pPr>
            <a:r>
              <a:rPr lang="en-US" sz="1400" dirty="0">
                <a:latin typeface="Calibri" panose="020F0502020204030204" pitchFamily="34" charset="0"/>
                <a:cs typeface="Calibri" panose="020F0502020204030204" pitchFamily="34" charset="0"/>
              </a:rPr>
              <a:t>Customer churn remains one of the biggest challenges facing telecommunication companies. Losing existing customers reduces recurring revenue, increases customer acquisition costs, and weakens long-term profitability.</a:t>
            </a:r>
          </a:p>
          <a:p>
            <a:pPr marL="0" indent="0">
              <a:buNone/>
            </a:pPr>
            <a:r>
              <a:rPr lang="en-US" sz="1400" dirty="0">
                <a:latin typeface="Calibri" panose="020F0502020204030204" pitchFamily="34" charset="0"/>
                <a:cs typeface="Calibri" panose="020F0502020204030204" pitchFamily="34" charset="0"/>
              </a:rPr>
              <a:t>This project leverages Business Intelligence to identify customer churn patterns, understand revenue performance, and recommend strategies for improving customer retention.</a:t>
            </a:r>
          </a:p>
          <a:p>
            <a:pPr marL="0" indent="0">
              <a:buNone/>
            </a:pPr>
            <a:r>
              <a:rPr lang="en-US" sz="1500" dirty="0">
                <a:latin typeface="Calibri" panose="020F0502020204030204" pitchFamily="34" charset="0"/>
                <a:cs typeface="Calibri" panose="020F0502020204030204" pitchFamily="34" charset="0"/>
              </a:rPr>
              <a:t>The objectives of this project are to:</a:t>
            </a:r>
          </a:p>
          <a:p>
            <a:pPr lvl="0"/>
            <a:r>
              <a:rPr lang="en-US" sz="1500" dirty="0">
                <a:latin typeface="Calibri" panose="020F0502020204030204" pitchFamily="34" charset="0"/>
                <a:cs typeface="Calibri" panose="020F0502020204030204" pitchFamily="34" charset="0"/>
              </a:rPr>
              <a:t>Monitor customer churn performance.</a:t>
            </a:r>
          </a:p>
          <a:p>
            <a:pPr lvl="0"/>
            <a:r>
              <a:rPr lang="en-US" sz="1500" dirty="0">
                <a:latin typeface="Calibri" panose="020F0502020204030204" pitchFamily="34" charset="0"/>
                <a:cs typeface="Calibri" panose="020F0502020204030204" pitchFamily="34" charset="0"/>
              </a:rPr>
              <a:t>Analyze customer demographics and behavior.</a:t>
            </a:r>
          </a:p>
          <a:p>
            <a:pPr lvl="0"/>
            <a:r>
              <a:rPr lang="en-US" sz="1500" dirty="0">
                <a:latin typeface="Calibri" panose="020F0502020204030204" pitchFamily="34" charset="0"/>
                <a:cs typeface="Calibri" panose="020F0502020204030204" pitchFamily="34" charset="0"/>
              </a:rPr>
              <a:t>Evaluate revenue contribution across customer segments.</a:t>
            </a:r>
          </a:p>
          <a:p>
            <a:pPr lvl="0"/>
            <a:r>
              <a:rPr lang="en-US" sz="1500" dirty="0">
                <a:latin typeface="Calibri" panose="020F0502020204030204" pitchFamily="34" charset="0"/>
                <a:cs typeface="Calibri" panose="020F0502020204030204" pitchFamily="34" charset="0"/>
              </a:rPr>
              <a:t>Identify the major causes of customer churn.</a:t>
            </a:r>
          </a:p>
          <a:p>
            <a:pPr lvl="0"/>
            <a:r>
              <a:rPr lang="en-US" sz="1500" dirty="0">
                <a:latin typeface="Calibri" panose="020F0502020204030204" pitchFamily="34" charset="0"/>
                <a:cs typeface="Calibri" panose="020F0502020204030204" pitchFamily="34" charset="0"/>
              </a:rPr>
              <a:t>Develop actionable recommendations for improving customer retention.</a:t>
            </a:r>
          </a:p>
          <a:p>
            <a:pPr marL="0" indent="0">
              <a:buNone/>
            </a:pPr>
            <a:endParaRPr lang="en-US" sz="14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63DBB2DC-FC0D-7FBB-A52F-6877830984E5}"/>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lock Arc 6">
            <a:extLst>
              <a:ext uri="{FF2B5EF4-FFF2-40B4-BE49-F238E27FC236}">
                <a16:creationId xmlns:a16="http://schemas.microsoft.com/office/drawing/2014/main" id="{268148B9-D6EB-21EB-4040-A84ABA76F745}"/>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33329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C5F23-0D3F-77F4-52E3-F348ADDD6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223BB-995E-018F-4DD7-31811869CD84}"/>
              </a:ext>
            </a:extLst>
          </p:cNvPr>
          <p:cNvSpPr>
            <a:spLocks noGrp="1"/>
          </p:cNvSpPr>
          <p:nvPr>
            <p:ph type="title"/>
          </p:nvPr>
        </p:nvSpPr>
        <p:spPr>
          <a:xfrm>
            <a:off x="623047" y="198997"/>
            <a:ext cx="2698376" cy="482040"/>
          </a:xfrm>
        </p:spPr>
        <p:txBody>
          <a:bodyPr>
            <a:normAutofit/>
          </a:bodyPr>
          <a:lstStyle/>
          <a:p>
            <a:r>
              <a:rPr lang="en-US" sz="1400" b="1" dirty="0">
                <a:latin typeface="Calibri" panose="020F0502020204030204" pitchFamily="34" charset="0"/>
                <a:cs typeface="Calibri" panose="020F0502020204030204" pitchFamily="34" charset="0"/>
              </a:rPr>
              <a:t>Project Workflow</a:t>
            </a:r>
          </a:p>
        </p:txBody>
      </p:sp>
      <p:sp>
        <p:nvSpPr>
          <p:cNvPr id="3" name="Content Placeholder 2">
            <a:extLst>
              <a:ext uri="{FF2B5EF4-FFF2-40B4-BE49-F238E27FC236}">
                <a16:creationId xmlns:a16="http://schemas.microsoft.com/office/drawing/2014/main" id="{B5179630-DFA8-C610-AEDE-050FD70A86BF}"/>
              </a:ext>
            </a:extLst>
          </p:cNvPr>
          <p:cNvSpPr>
            <a:spLocks noGrp="1"/>
          </p:cNvSpPr>
          <p:nvPr>
            <p:ph idx="1"/>
          </p:nvPr>
        </p:nvSpPr>
        <p:spPr>
          <a:xfrm>
            <a:off x="623047" y="703168"/>
            <a:ext cx="3657600" cy="5495926"/>
          </a:xfrm>
        </p:spPr>
        <p:txBody>
          <a:bodyPr>
            <a:normAutofit fontScale="55000" lnSpcReduction="20000"/>
          </a:bodyPr>
          <a:lstStyle/>
          <a:p>
            <a:pPr marL="0" indent="0" algn="ctr">
              <a:buNone/>
            </a:pPr>
            <a:r>
              <a:rPr lang="en-US" b="1" dirty="0">
                <a:latin typeface="Calibri" panose="020F0502020204030204" pitchFamily="34" charset="0"/>
                <a:cs typeface="Calibri" panose="020F0502020204030204" pitchFamily="34" charset="0"/>
              </a:rPr>
              <a:t>Business Intelligence Lifecycle</a:t>
            </a:r>
            <a:br>
              <a:rPr lang="en-US" b="1"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Create a flow diagram:</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Business Problem</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Data Collection</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Data Cleaning</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Data Modeling</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Power BI Development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Dashboard Design</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Business Insights</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Strategic Recommendations</a:t>
            </a:r>
            <a:br>
              <a:rPr lang="en-US"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4" name="Content Placeholder 2">
            <a:extLst>
              <a:ext uri="{FF2B5EF4-FFF2-40B4-BE49-F238E27FC236}">
                <a16:creationId xmlns:a16="http://schemas.microsoft.com/office/drawing/2014/main" id="{4F6410AA-24D9-F92F-8003-4D434221662F}"/>
              </a:ext>
            </a:extLst>
          </p:cNvPr>
          <p:cNvSpPr txBox="1">
            <a:spLocks/>
          </p:cNvSpPr>
          <p:nvPr/>
        </p:nvSpPr>
        <p:spPr>
          <a:xfrm>
            <a:off x="4724400" y="681037"/>
            <a:ext cx="3657600" cy="549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400"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983F9E9E-E857-3744-604F-30B51A76ECB4}"/>
              </a:ext>
            </a:extLst>
          </p:cNvPr>
          <p:cNvGraphicFramePr>
            <a:graphicFrameLocks noGrp="1"/>
          </p:cNvGraphicFramePr>
          <p:nvPr>
            <p:extLst>
              <p:ext uri="{D42A27DB-BD31-4B8C-83A1-F6EECF244321}">
                <p14:modId xmlns:p14="http://schemas.microsoft.com/office/powerpoint/2010/main" val="999376086"/>
              </p:ext>
            </p:extLst>
          </p:nvPr>
        </p:nvGraphicFramePr>
        <p:xfrm>
          <a:off x="4280648" y="977383"/>
          <a:ext cx="3630708" cy="4697275"/>
        </p:xfrm>
        <a:graphic>
          <a:graphicData uri="http://schemas.openxmlformats.org/drawingml/2006/table">
            <a:tbl>
              <a:tblPr firstRow="1" bandRow="1">
                <a:tableStyleId>{5940675A-B579-460E-94D1-54222C63F5DA}</a:tableStyleId>
              </a:tblPr>
              <a:tblGrid>
                <a:gridCol w="1349329">
                  <a:extLst>
                    <a:ext uri="{9D8B030D-6E8A-4147-A177-3AD203B41FA5}">
                      <a16:colId xmlns:a16="http://schemas.microsoft.com/office/drawing/2014/main" val="342979749"/>
                    </a:ext>
                  </a:extLst>
                </a:gridCol>
                <a:gridCol w="2281379">
                  <a:extLst>
                    <a:ext uri="{9D8B030D-6E8A-4147-A177-3AD203B41FA5}">
                      <a16:colId xmlns:a16="http://schemas.microsoft.com/office/drawing/2014/main" val="1142092865"/>
                    </a:ext>
                  </a:extLst>
                </a:gridCol>
              </a:tblGrid>
              <a:tr h="939455">
                <a:tc>
                  <a:txBody>
                    <a:bodyPr/>
                    <a:lstStyle/>
                    <a:p>
                      <a:r>
                        <a:rPr lang="en-US" dirty="0"/>
                        <a:t>Metrics    </a:t>
                      </a:r>
                    </a:p>
                  </a:txBody>
                  <a:tcPr/>
                </a:tc>
                <a:tc>
                  <a:txBody>
                    <a:bodyPr/>
                    <a:lstStyle/>
                    <a:p>
                      <a:r>
                        <a:rPr lang="en-US" dirty="0"/>
                        <a:t>Vaues</a:t>
                      </a:r>
                    </a:p>
                  </a:txBody>
                  <a:tcPr/>
                </a:tc>
                <a:extLst>
                  <a:ext uri="{0D108BD9-81ED-4DB2-BD59-A6C34878D82A}">
                    <a16:rowId xmlns:a16="http://schemas.microsoft.com/office/drawing/2014/main" val="553753075"/>
                  </a:ext>
                </a:extLst>
              </a:tr>
              <a:tr h="939455">
                <a:tc>
                  <a:txBody>
                    <a:bodyPr/>
                    <a:lstStyle/>
                    <a:p>
                      <a:r>
                        <a:rPr lang="en-US" dirty="0"/>
                        <a:t>Records</a:t>
                      </a:r>
                    </a:p>
                  </a:txBody>
                  <a:tcPr/>
                </a:tc>
                <a:tc>
                  <a:txBody>
                    <a:bodyPr/>
                    <a:lstStyle/>
                    <a:p>
                      <a:r>
                        <a:rPr lang="en-US" dirty="0"/>
                        <a:t>496 Customers</a:t>
                      </a:r>
                    </a:p>
                  </a:txBody>
                  <a:tcPr/>
                </a:tc>
                <a:extLst>
                  <a:ext uri="{0D108BD9-81ED-4DB2-BD59-A6C34878D82A}">
                    <a16:rowId xmlns:a16="http://schemas.microsoft.com/office/drawing/2014/main" val="510295292"/>
                  </a:ext>
                </a:extLst>
              </a:tr>
              <a:tr h="939455">
                <a:tc>
                  <a:txBody>
                    <a:bodyPr/>
                    <a:lstStyle/>
                    <a:p>
                      <a:r>
                        <a:rPr lang="en-US" dirty="0"/>
                        <a:t>Revenue</a:t>
                      </a:r>
                    </a:p>
                  </a:txBody>
                  <a:tcPr/>
                </a:tc>
                <a:tc>
                  <a:txBody>
                    <a:bodyPr/>
                    <a:lstStyle/>
                    <a:p>
                      <a:r>
                        <a:rPr lang="en-US" sz="1800" kern="1200" dirty="0">
                          <a:solidFill>
                            <a:schemeClr val="tx1"/>
                          </a:solidFill>
                          <a:effectLst/>
                          <a:latin typeface="+mn-lt"/>
                          <a:ea typeface="+mn-ea"/>
                          <a:cs typeface="+mn-cs"/>
                        </a:rPr>
                        <a:t>₦68.75 Billion </a:t>
                      </a:r>
                      <a:endParaRPr lang="en-US" dirty="0"/>
                    </a:p>
                  </a:txBody>
                  <a:tcPr/>
                </a:tc>
                <a:extLst>
                  <a:ext uri="{0D108BD9-81ED-4DB2-BD59-A6C34878D82A}">
                    <a16:rowId xmlns:a16="http://schemas.microsoft.com/office/drawing/2014/main" val="863760633"/>
                  </a:ext>
                </a:extLst>
              </a:tr>
              <a:tr h="939455">
                <a:tc>
                  <a:txBody>
                    <a:bodyPr/>
                    <a:lstStyle/>
                    <a:p>
                      <a:r>
                        <a:rPr lang="en-US" dirty="0"/>
                        <a:t>State</a:t>
                      </a:r>
                    </a:p>
                  </a:txBody>
                  <a:tcPr/>
                </a:tc>
                <a:tc>
                  <a:txBody>
                    <a:bodyPr/>
                    <a:lstStyle/>
                    <a:p>
                      <a:r>
                        <a:rPr lang="en-US" sz="1800" kern="1200" dirty="0">
                          <a:solidFill>
                            <a:schemeClr val="tx1"/>
                          </a:solidFill>
                          <a:effectLst/>
                          <a:latin typeface="+mn-lt"/>
                          <a:ea typeface="+mn-ea"/>
                          <a:cs typeface="+mn-cs"/>
                        </a:rPr>
                        <a:t>Nigerian States </a:t>
                      </a:r>
                      <a:endParaRPr lang="en-US" dirty="0"/>
                    </a:p>
                  </a:txBody>
                  <a:tcPr/>
                </a:tc>
                <a:extLst>
                  <a:ext uri="{0D108BD9-81ED-4DB2-BD59-A6C34878D82A}">
                    <a16:rowId xmlns:a16="http://schemas.microsoft.com/office/drawing/2014/main" val="604798393"/>
                  </a:ext>
                </a:extLst>
              </a:tr>
              <a:tr h="939455">
                <a:tc>
                  <a:txBody>
                    <a:bodyPr/>
                    <a:lstStyle/>
                    <a:p>
                      <a:r>
                        <a:rPr lang="en-US" dirty="0"/>
                        <a:t>Time Periods</a:t>
                      </a:r>
                    </a:p>
                  </a:txBody>
                  <a:tcPr/>
                </a:tc>
                <a:tc>
                  <a:txBody>
                    <a:bodyPr/>
                    <a:lstStyle/>
                    <a:p>
                      <a:r>
                        <a:rPr lang="en-US" sz="1800" kern="1200" dirty="0">
                          <a:solidFill>
                            <a:schemeClr val="tx1"/>
                          </a:solidFill>
                          <a:effectLst/>
                          <a:latin typeface="+mn-lt"/>
                          <a:ea typeface="+mn-ea"/>
                          <a:cs typeface="+mn-cs"/>
                        </a:rPr>
                        <a:t>January–March 2025</a:t>
                      </a:r>
                      <a:endParaRPr lang="en-US" dirty="0"/>
                    </a:p>
                  </a:txBody>
                  <a:tcPr/>
                </a:tc>
                <a:extLst>
                  <a:ext uri="{0D108BD9-81ED-4DB2-BD59-A6C34878D82A}">
                    <a16:rowId xmlns:a16="http://schemas.microsoft.com/office/drawing/2014/main" val="2185553277"/>
                  </a:ext>
                </a:extLst>
              </a:tr>
            </a:tbl>
          </a:graphicData>
        </a:graphic>
      </p:graphicFrame>
      <p:sp>
        <p:nvSpPr>
          <p:cNvPr id="6" name="Title 1">
            <a:extLst>
              <a:ext uri="{FF2B5EF4-FFF2-40B4-BE49-F238E27FC236}">
                <a16:creationId xmlns:a16="http://schemas.microsoft.com/office/drawing/2014/main" id="{921C19DA-671B-275C-5390-BFFBD7EE5C44}"/>
              </a:ext>
            </a:extLst>
          </p:cNvPr>
          <p:cNvSpPr txBox="1">
            <a:spLocks/>
          </p:cNvSpPr>
          <p:nvPr/>
        </p:nvSpPr>
        <p:spPr>
          <a:xfrm>
            <a:off x="4056530" y="187932"/>
            <a:ext cx="2698376" cy="4820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b="1" dirty="0">
                <a:latin typeface="Calibri" panose="020F0502020204030204" pitchFamily="34" charset="0"/>
                <a:cs typeface="Calibri" panose="020F0502020204030204" pitchFamily="34" charset="0"/>
              </a:rPr>
              <a:t>Dataset Overview</a:t>
            </a:r>
          </a:p>
        </p:txBody>
      </p:sp>
      <p:sp>
        <p:nvSpPr>
          <p:cNvPr id="7" name="Title 1">
            <a:extLst>
              <a:ext uri="{FF2B5EF4-FFF2-40B4-BE49-F238E27FC236}">
                <a16:creationId xmlns:a16="http://schemas.microsoft.com/office/drawing/2014/main" id="{648293CC-0BCE-AF2B-CA05-173725A827C4}"/>
              </a:ext>
            </a:extLst>
          </p:cNvPr>
          <p:cNvSpPr txBox="1">
            <a:spLocks/>
          </p:cNvSpPr>
          <p:nvPr/>
        </p:nvSpPr>
        <p:spPr>
          <a:xfrm>
            <a:off x="4150659" y="462148"/>
            <a:ext cx="2698376" cy="4820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b="1" dirty="0">
                <a:latin typeface="Calibri" panose="020F0502020204030204" pitchFamily="34" charset="0"/>
                <a:cs typeface="Calibri" panose="020F0502020204030204" pitchFamily="34" charset="0"/>
              </a:rPr>
              <a:t>Dataset Summary</a:t>
            </a:r>
          </a:p>
        </p:txBody>
      </p:sp>
      <p:sp>
        <p:nvSpPr>
          <p:cNvPr id="8" name="Title 1">
            <a:extLst>
              <a:ext uri="{FF2B5EF4-FFF2-40B4-BE49-F238E27FC236}">
                <a16:creationId xmlns:a16="http://schemas.microsoft.com/office/drawing/2014/main" id="{B90E61CF-1D2B-AE1C-4F93-96D031FCB9E6}"/>
              </a:ext>
            </a:extLst>
          </p:cNvPr>
          <p:cNvSpPr txBox="1">
            <a:spLocks/>
          </p:cNvSpPr>
          <p:nvPr/>
        </p:nvSpPr>
        <p:spPr>
          <a:xfrm>
            <a:off x="8471650" y="703168"/>
            <a:ext cx="2451848" cy="34923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Calibri" panose="020F0502020204030204" pitchFamily="34" charset="0"/>
                <a:cs typeface="Calibri" panose="020F0502020204030204" pitchFamily="34" charset="0"/>
              </a:rPr>
              <a:t>Key Variables</a:t>
            </a:r>
            <a:br>
              <a:rPr lang="en-US" sz="1800" dirty="0">
                <a:latin typeface="Calibri" panose="020F0502020204030204" pitchFamily="34" charset="0"/>
                <a:cs typeface="Calibri" panose="020F0502020204030204" pitchFamily="34" charset="0"/>
              </a:rPr>
            </a:b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Customer ID</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Age</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Gender</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State</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Device</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Subscription Plan</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Revenue</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Satisfaction</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Tenure</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Churn Status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Churn Reason</a:t>
            </a:r>
            <a:br>
              <a:rPr lang="en-US" sz="1800" dirty="0">
                <a:latin typeface="Calibri" panose="020F0502020204030204" pitchFamily="34" charset="0"/>
                <a:cs typeface="Calibri" panose="020F0502020204030204" pitchFamily="34" charset="0"/>
              </a:rPr>
            </a:br>
            <a:endParaRPr lang="en-US" sz="1800" b="1"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1EB596-258D-A031-B4A8-CE946056F795}"/>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lock Arc 6">
            <a:extLst>
              <a:ext uri="{FF2B5EF4-FFF2-40B4-BE49-F238E27FC236}">
                <a16:creationId xmlns:a16="http://schemas.microsoft.com/office/drawing/2014/main" id="{BE69BC91-5427-C9BA-84C3-12D44CA77984}"/>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58465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DE6B-8221-0550-597E-9F8754FD3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2B489-65EE-7E6D-E165-590B36EAD9B6}"/>
              </a:ext>
            </a:extLst>
          </p:cNvPr>
          <p:cNvSpPr>
            <a:spLocks noGrp="1"/>
          </p:cNvSpPr>
          <p:nvPr>
            <p:ph type="title"/>
          </p:nvPr>
        </p:nvSpPr>
        <p:spPr>
          <a:xfrm>
            <a:off x="623047" y="198997"/>
            <a:ext cx="2698376" cy="482040"/>
          </a:xfrm>
        </p:spPr>
        <p:txBody>
          <a:bodyPr>
            <a:normAutofit/>
          </a:bodyPr>
          <a:lstStyle/>
          <a:p>
            <a:r>
              <a:rPr lang="en-US" sz="1400" b="1" dirty="0">
                <a:latin typeface="Calibri" panose="020F0502020204030204" pitchFamily="34" charset="0"/>
                <a:cs typeface="Calibri" panose="020F0502020204030204" pitchFamily="34" charset="0"/>
              </a:rPr>
              <a:t>Project Workflow</a:t>
            </a:r>
          </a:p>
        </p:txBody>
      </p:sp>
      <p:sp>
        <p:nvSpPr>
          <p:cNvPr id="3" name="Content Placeholder 2">
            <a:extLst>
              <a:ext uri="{FF2B5EF4-FFF2-40B4-BE49-F238E27FC236}">
                <a16:creationId xmlns:a16="http://schemas.microsoft.com/office/drawing/2014/main" id="{DBACA8E1-1ED1-533B-48ED-73BE65CCDFD1}"/>
              </a:ext>
            </a:extLst>
          </p:cNvPr>
          <p:cNvSpPr>
            <a:spLocks noGrp="1"/>
          </p:cNvSpPr>
          <p:nvPr>
            <p:ph idx="1"/>
          </p:nvPr>
        </p:nvSpPr>
        <p:spPr>
          <a:xfrm>
            <a:off x="623047" y="703168"/>
            <a:ext cx="4325471" cy="692955"/>
          </a:xfrm>
        </p:spPr>
        <p:txBody>
          <a:bodyPr>
            <a:normAutofit/>
          </a:bodyPr>
          <a:lstStyle/>
          <a:p>
            <a:pPr marL="0" indent="0">
              <a:buNone/>
            </a:pPr>
            <a:r>
              <a:rPr lang="en-US" sz="1400" b="1" dirty="0">
                <a:latin typeface="Calibri" panose="020F0502020204030204" pitchFamily="34" charset="0"/>
                <a:cs typeface="Calibri" panose="020F0502020204030204" pitchFamily="34" charset="0"/>
              </a:rPr>
              <a:t>Data Model</a:t>
            </a:r>
            <a:br>
              <a:rPr lang="en-US" sz="1400" dirty="0">
                <a:latin typeface="Calibri" panose="020F0502020204030204" pitchFamily="34" charset="0"/>
                <a:cs typeface="Calibri" panose="020F0502020204030204" pitchFamily="34" charset="0"/>
              </a:rPr>
            </a:br>
            <a:br>
              <a:rPr lang="en-US" sz="1400" dirty="0">
                <a:latin typeface="Calibri" panose="020F0502020204030204" pitchFamily="34" charset="0"/>
                <a:cs typeface="Calibri" panose="020F0502020204030204" pitchFamily="34" charset="0"/>
              </a:rPr>
            </a:br>
            <a:r>
              <a:rPr lang="en-US" sz="1400" dirty="0">
                <a:latin typeface="Calibri" panose="020F0502020204030204" pitchFamily="34" charset="0"/>
                <a:cs typeface="Calibri" panose="020F0502020204030204" pitchFamily="34" charset="0"/>
              </a:rPr>
              <a:t>Star Schema Architecture</a:t>
            </a:r>
          </a:p>
        </p:txBody>
      </p:sp>
      <p:pic>
        <p:nvPicPr>
          <p:cNvPr id="13" name="Picture 12">
            <a:extLst>
              <a:ext uri="{FF2B5EF4-FFF2-40B4-BE49-F238E27FC236}">
                <a16:creationId xmlns:a16="http://schemas.microsoft.com/office/drawing/2014/main" id="{DA951641-8AA5-C58C-64A9-49964D8CCD47}"/>
              </a:ext>
            </a:extLst>
          </p:cNvPr>
          <p:cNvPicPr>
            <a:picLocks noChangeAspect="1"/>
          </p:cNvPicPr>
          <p:nvPr/>
        </p:nvPicPr>
        <p:blipFill>
          <a:blip r:embed="rId3"/>
          <a:stretch>
            <a:fillRect/>
          </a:stretch>
        </p:blipFill>
        <p:spPr>
          <a:xfrm>
            <a:off x="1423144" y="1396123"/>
            <a:ext cx="6403044" cy="4727718"/>
          </a:xfrm>
          <a:prstGeom prst="rect">
            <a:avLst/>
          </a:prstGeom>
        </p:spPr>
      </p:pic>
      <p:sp>
        <p:nvSpPr>
          <p:cNvPr id="4" name="Rectangle 3">
            <a:extLst>
              <a:ext uri="{FF2B5EF4-FFF2-40B4-BE49-F238E27FC236}">
                <a16:creationId xmlns:a16="http://schemas.microsoft.com/office/drawing/2014/main" id="{ADC8DA39-B819-E537-118B-6C17B60431B9}"/>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lock Arc 6">
            <a:extLst>
              <a:ext uri="{FF2B5EF4-FFF2-40B4-BE49-F238E27FC236}">
                <a16:creationId xmlns:a16="http://schemas.microsoft.com/office/drawing/2014/main" id="{8D37E5E2-BFE5-B31A-233F-DD42179D1242}"/>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050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FFE5E-17F9-5E71-21FE-8CC403B3949F}"/>
              </a:ext>
            </a:extLst>
          </p:cNvPr>
          <p:cNvSpPr>
            <a:spLocks noGrp="1"/>
          </p:cNvSpPr>
          <p:nvPr>
            <p:ph type="title"/>
          </p:nvPr>
        </p:nvSpPr>
        <p:spPr>
          <a:xfrm>
            <a:off x="838200" y="835773"/>
            <a:ext cx="1905000" cy="441699"/>
          </a:xfrm>
        </p:spPr>
        <p:txBody>
          <a:bodyPr>
            <a:normAutofit/>
          </a:bodyPr>
          <a:lstStyle/>
          <a:p>
            <a:r>
              <a:rPr lang="en-US" sz="1400" b="1" dirty="0">
                <a:latin typeface="Calibri" panose="020F0502020204030204" pitchFamily="34" charset="0"/>
                <a:cs typeface="Calibri" panose="020F0502020204030204" pitchFamily="34" charset="0"/>
              </a:rPr>
              <a:t>Dashboard Overview</a:t>
            </a:r>
            <a:endParaRPr lang="en-US" sz="1400" dirty="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293B1B7E-67DD-42A1-E2E8-38F0C244F111}"/>
              </a:ext>
            </a:extLst>
          </p:cNvPr>
          <p:cNvSpPr txBox="1">
            <a:spLocks/>
          </p:cNvSpPr>
          <p:nvPr/>
        </p:nvSpPr>
        <p:spPr>
          <a:xfrm>
            <a:off x="838200" y="440017"/>
            <a:ext cx="2698376" cy="4820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b="1">
                <a:latin typeface="Calibri" panose="020F0502020204030204" pitchFamily="34" charset="0"/>
                <a:cs typeface="Calibri" panose="020F0502020204030204" pitchFamily="34" charset="0"/>
              </a:rPr>
              <a:t>MTN Customer Churn Analysis</a:t>
            </a:r>
            <a:endParaRPr lang="en-US" sz="14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8CF3FAF8-0763-F5C3-3D67-0A0A4D26A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1611" y="1337053"/>
            <a:ext cx="3098306" cy="1740622"/>
          </a:xfrm>
          <a:prstGeom prst="rect">
            <a:avLst/>
          </a:prstGeom>
        </p:spPr>
      </p:pic>
      <p:pic>
        <p:nvPicPr>
          <p:cNvPr id="8" name="Picture 7">
            <a:extLst>
              <a:ext uri="{FF2B5EF4-FFF2-40B4-BE49-F238E27FC236}">
                <a16:creationId xmlns:a16="http://schemas.microsoft.com/office/drawing/2014/main" id="{898F310C-BA51-E937-717F-06EB3AAE9D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5202" y="1331261"/>
            <a:ext cx="3100265" cy="1740622"/>
          </a:xfrm>
          <a:prstGeom prst="rect">
            <a:avLst/>
          </a:prstGeom>
        </p:spPr>
      </p:pic>
      <p:pic>
        <p:nvPicPr>
          <p:cNvPr id="10" name="Picture 9">
            <a:extLst>
              <a:ext uri="{FF2B5EF4-FFF2-40B4-BE49-F238E27FC236}">
                <a16:creationId xmlns:a16="http://schemas.microsoft.com/office/drawing/2014/main" id="{7B550B26-BF5B-176C-0624-F1B8960629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0545" y="1331260"/>
            <a:ext cx="3105747" cy="1740622"/>
          </a:xfrm>
          <a:prstGeom prst="rect">
            <a:avLst/>
          </a:prstGeom>
        </p:spPr>
      </p:pic>
      <p:pic>
        <p:nvPicPr>
          <p:cNvPr id="12" name="Picture 11">
            <a:extLst>
              <a:ext uri="{FF2B5EF4-FFF2-40B4-BE49-F238E27FC236}">
                <a16:creationId xmlns:a16="http://schemas.microsoft.com/office/drawing/2014/main" id="{C6BA32D1-620C-A70A-AD4F-DFD1CA2BF4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6682" y="3891259"/>
            <a:ext cx="3101788" cy="1740622"/>
          </a:xfrm>
          <a:prstGeom prst="rect">
            <a:avLst/>
          </a:prstGeom>
        </p:spPr>
      </p:pic>
      <p:pic>
        <p:nvPicPr>
          <p:cNvPr id="14" name="Picture 13">
            <a:extLst>
              <a:ext uri="{FF2B5EF4-FFF2-40B4-BE49-F238E27FC236}">
                <a16:creationId xmlns:a16="http://schemas.microsoft.com/office/drawing/2014/main" id="{EE2BEB45-C632-4CA0-3B51-B5AF33821D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61338" y="3878354"/>
            <a:ext cx="3100265" cy="1755066"/>
          </a:xfrm>
          <a:prstGeom prst="rect">
            <a:avLst/>
          </a:prstGeom>
        </p:spPr>
      </p:pic>
      <p:sp>
        <p:nvSpPr>
          <p:cNvPr id="15" name="Title 1">
            <a:extLst>
              <a:ext uri="{FF2B5EF4-FFF2-40B4-BE49-F238E27FC236}">
                <a16:creationId xmlns:a16="http://schemas.microsoft.com/office/drawing/2014/main" id="{C781F7B1-50A0-EDBF-E703-6FCBA4D41208}"/>
              </a:ext>
            </a:extLst>
          </p:cNvPr>
          <p:cNvSpPr txBox="1">
            <a:spLocks/>
          </p:cNvSpPr>
          <p:nvPr/>
        </p:nvSpPr>
        <p:spPr>
          <a:xfrm>
            <a:off x="1241611" y="3157092"/>
            <a:ext cx="3098306" cy="441699"/>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Monitor business performance using executive KPIs</a:t>
            </a:r>
          </a:p>
        </p:txBody>
      </p:sp>
      <p:sp>
        <p:nvSpPr>
          <p:cNvPr id="16" name="Title 1">
            <a:extLst>
              <a:ext uri="{FF2B5EF4-FFF2-40B4-BE49-F238E27FC236}">
                <a16:creationId xmlns:a16="http://schemas.microsoft.com/office/drawing/2014/main" id="{FF50A690-FF8D-3051-6EEB-B6AD36250E34}"/>
              </a:ext>
            </a:extLst>
          </p:cNvPr>
          <p:cNvSpPr txBox="1">
            <a:spLocks/>
          </p:cNvSpPr>
          <p:nvPr/>
        </p:nvSpPr>
        <p:spPr>
          <a:xfrm>
            <a:off x="4657161" y="3144278"/>
            <a:ext cx="3098306" cy="44169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Understand customer demographics and behaviors</a:t>
            </a:r>
          </a:p>
        </p:txBody>
      </p:sp>
      <p:sp>
        <p:nvSpPr>
          <p:cNvPr id="17" name="Title 1">
            <a:extLst>
              <a:ext uri="{FF2B5EF4-FFF2-40B4-BE49-F238E27FC236}">
                <a16:creationId xmlns:a16="http://schemas.microsoft.com/office/drawing/2014/main" id="{39B9A925-1F9F-EE27-5F22-943FEF28F714}"/>
              </a:ext>
            </a:extLst>
          </p:cNvPr>
          <p:cNvSpPr txBox="1">
            <a:spLocks/>
          </p:cNvSpPr>
          <p:nvPr/>
        </p:nvSpPr>
        <p:spPr>
          <a:xfrm>
            <a:off x="8070545" y="3181019"/>
            <a:ext cx="3098306" cy="44169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Identify revenue drivers and customer value</a:t>
            </a:r>
          </a:p>
        </p:txBody>
      </p:sp>
      <p:sp>
        <p:nvSpPr>
          <p:cNvPr id="18" name="Title 1">
            <a:extLst>
              <a:ext uri="{FF2B5EF4-FFF2-40B4-BE49-F238E27FC236}">
                <a16:creationId xmlns:a16="http://schemas.microsoft.com/office/drawing/2014/main" id="{7C6059BF-4BBE-01FF-67ED-AFA28AF0AA38}"/>
              </a:ext>
            </a:extLst>
          </p:cNvPr>
          <p:cNvSpPr txBox="1">
            <a:spLocks/>
          </p:cNvSpPr>
          <p:nvPr/>
        </p:nvSpPr>
        <p:spPr>
          <a:xfrm>
            <a:off x="2763297" y="5716313"/>
            <a:ext cx="3098306" cy="44169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Discover the root causes of customer attrition</a:t>
            </a:r>
          </a:p>
        </p:txBody>
      </p:sp>
      <p:sp>
        <p:nvSpPr>
          <p:cNvPr id="19" name="Title 1">
            <a:extLst>
              <a:ext uri="{FF2B5EF4-FFF2-40B4-BE49-F238E27FC236}">
                <a16:creationId xmlns:a16="http://schemas.microsoft.com/office/drawing/2014/main" id="{0BAA3789-B637-312A-F6D1-4C491E7987AC}"/>
              </a:ext>
            </a:extLst>
          </p:cNvPr>
          <p:cNvSpPr txBox="1">
            <a:spLocks/>
          </p:cNvSpPr>
          <p:nvPr/>
        </p:nvSpPr>
        <p:spPr>
          <a:xfrm>
            <a:off x="6180164" y="5716312"/>
            <a:ext cx="3098306" cy="44169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Recommend strategies to reduce churn and protect revenue</a:t>
            </a:r>
          </a:p>
        </p:txBody>
      </p:sp>
      <p:sp>
        <p:nvSpPr>
          <p:cNvPr id="3" name="Rectangle 2">
            <a:extLst>
              <a:ext uri="{FF2B5EF4-FFF2-40B4-BE49-F238E27FC236}">
                <a16:creationId xmlns:a16="http://schemas.microsoft.com/office/drawing/2014/main" id="{8E7B8B3D-6134-3939-FD4D-4B5D59B76EC6}"/>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lock Arc 6">
            <a:extLst>
              <a:ext uri="{FF2B5EF4-FFF2-40B4-BE49-F238E27FC236}">
                <a16:creationId xmlns:a16="http://schemas.microsoft.com/office/drawing/2014/main" id="{CBDB0999-1BDD-8A81-3FCF-0A2147333B18}"/>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41674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0EB94-1ED9-CC56-39CD-7FE84171864E}"/>
              </a:ext>
            </a:extLst>
          </p:cNvPr>
          <p:cNvSpPr>
            <a:spLocks noGrp="1"/>
          </p:cNvSpPr>
          <p:nvPr>
            <p:ph type="title"/>
          </p:nvPr>
        </p:nvSpPr>
        <p:spPr>
          <a:xfrm>
            <a:off x="824753" y="217209"/>
            <a:ext cx="2725271" cy="508934"/>
          </a:xfrm>
        </p:spPr>
        <p:txBody>
          <a:bodyPr>
            <a:normAutofit/>
          </a:bodyPr>
          <a:lstStyle/>
          <a:p>
            <a:r>
              <a:rPr lang="en-US" sz="1400" b="1" dirty="0">
                <a:latin typeface="Calibri" panose="020F0502020204030204" pitchFamily="34" charset="0"/>
                <a:cs typeface="Calibri" panose="020F0502020204030204" pitchFamily="34" charset="0"/>
              </a:rPr>
              <a:t>Executive Overview Dashboard</a:t>
            </a:r>
            <a:br>
              <a:rPr lang="en-US" sz="1400" b="1" dirty="0">
                <a:latin typeface="Calibri" panose="020F0502020204030204" pitchFamily="34" charset="0"/>
                <a:cs typeface="Calibri" panose="020F0502020204030204" pitchFamily="34" charset="0"/>
              </a:rPr>
            </a:br>
            <a:endParaRPr lang="en-US" sz="1400" dirty="0"/>
          </a:p>
        </p:txBody>
      </p:sp>
      <p:pic>
        <p:nvPicPr>
          <p:cNvPr id="4" name="Picture 3">
            <a:extLst>
              <a:ext uri="{FF2B5EF4-FFF2-40B4-BE49-F238E27FC236}">
                <a16:creationId xmlns:a16="http://schemas.microsoft.com/office/drawing/2014/main" id="{0E4BA969-132B-AD3F-C3C8-AE30432BE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130" y="632012"/>
            <a:ext cx="6115586" cy="3435724"/>
          </a:xfrm>
          <a:prstGeom prst="rect">
            <a:avLst/>
          </a:prstGeom>
        </p:spPr>
      </p:pic>
      <p:sp>
        <p:nvSpPr>
          <p:cNvPr id="5" name="Title 1">
            <a:extLst>
              <a:ext uri="{FF2B5EF4-FFF2-40B4-BE49-F238E27FC236}">
                <a16:creationId xmlns:a16="http://schemas.microsoft.com/office/drawing/2014/main" id="{95011350-BFB3-AD49-3C9E-75E5D2E8A579}"/>
              </a:ext>
            </a:extLst>
          </p:cNvPr>
          <p:cNvSpPr txBox="1">
            <a:spLocks/>
          </p:cNvSpPr>
          <p:nvPr/>
        </p:nvSpPr>
        <p:spPr>
          <a:xfrm>
            <a:off x="6875930" y="470648"/>
            <a:ext cx="4849905" cy="37888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	MTN generated a total revenue of 68.75 billion naira from 496 customers. Out of these customers, 146 customer have churned with overall churned rate of 29.44%. This means nearly one out of every three customers as left the network.</a:t>
            </a:r>
          </a:p>
          <a:p>
            <a:r>
              <a:rPr lang="en-US" sz="1400" dirty="0">
                <a:latin typeface="Calibri" panose="020F0502020204030204" pitchFamily="34" charset="0"/>
                <a:cs typeface="Calibri" panose="020F0502020204030204" pitchFamily="34" charset="0"/>
              </a:rPr>
              <a:t>	The average customer satisfaction is only 2.96 out of 5, suggesting many customers are not receiving the level of service expected. Customer lifetime value ranges between 32 and 39 across states, indicating varying customer profitability by location.</a:t>
            </a:r>
          </a:p>
          <a:p>
            <a:r>
              <a:rPr lang="en-US" sz="1400" dirty="0">
                <a:latin typeface="Calibri" panose="020F0502020204030204" pitchFamily="34" charset="0"/>
                <a:cs typeface="Calibri" panose="020F0502020204030204" pitchFamily="34" charset="0"/>
              </a:rPr>
              <a:t>	The highest churn rate are concentrated in specific states, suggesting that churn is influenced by regional factor rather than being evenly distributed. The leading churn reason includes:</a:t>
            </a:r>
          </a:p>
          <a:p>
            <a:pPr marL="285750" indent="-285750">
              <a:buFontTx/>
              <a:buChar char="-"/>
            </a:pPr>
            <a:r>
              <a:rPr lang="en-US" sz="1400" dirty="0">
                <a:latin typeface="Calibri" panose="020F0502020204030204" pitchFamily="34" charset="0"/>
                <a:cs typeface="Calibri" panose="020F0502020204030204" pitchFamily="34" charset="0"/>
              </a:rPr>
              <a:t>Better competitor offers</a:t>
            </a:r>
          </a:p>
          <a:p>
            <a:pPr marL="285750" indent="-285750">
              <a:buFontTx/>
              <a:buChar char="-"/>
            </a:pPr>
            <a:r>
              <a:rPr lang="en-US" sz="1400" dirty="0">
                <a:latin typeface="Calibri" panose="020F0502020204030204" pitchFamily="34" charset="0"/>
                <a:cs typeface="Calibri" panose="020F0502020204030204" pitchFamily="34" charset="0"/>
              </a:rPr>
              <a:t>Poor customer service</a:t>
            </a:r>
          </a:p>
          <a:p>
            <a:pPr marL="285750" indent="-285750">
              <a:buFontTx/>
              <a:buChar char="-"/>
            </a:pPr>
            <a:r>
              <a:rPr lang="en-US" sz="1400" dirty="0">
                <a:latin typeface="Calibri" panose="020F0502020204030204" pitchFamily="34" charset="0"/>
                <a:cs typeface="Calibri" panose="020F0502020204030204" pitchFamily="34" charset="0"/>
              </a:rPr>
              <a:t>High call tariffs</a:t>
            </a:r>
          </a:p>
          <a:p>
            <a:pPr marL="285750" indent="-285750">
              <a:buFontTx/>
              <a:buChar char="-"/>
            </a:pPr>
            <a:r>
              <a:rPr lang="en-US" sz="1400" dirty="0">
                <a:latin typeface="Calibri" panose="020F0502020204030204" pitchFamily="34" charset="0"/>
                <a:cs typeface="Calibri" panose="020F0502020204030204" pitchFamily="34" charset="0"/>
              </a:rPr>
              <a:t>Poor network quality</a:t>
            </a:r>
          </a:p>
        </p:txBody>
      </p:sp>
      <p:sp>
        <p:nvSpPr>
          <p:cNvPr id="6" name="Rectangle 5">
            <a:extLst>
              <a:ext uri="{FF2B5EF4-FFF2-40B4-BE49-F238E27FC236}">
                <a16:creationId xmlns:a16="http://schemas.microsoft.com/office/drawing/2014/main" id="{7D535C24-BD81-624E-258C-9E39FADCFB24}"/>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Block Arc 6">
            <a:extLst>
              <a:ext uri="{FF2B5EF4-FFF2-40B4-BE49-F238E27FC236}">
                <a16:creationId xmlns:a16="http://schemas.microsoft.com/office/drawing/2014/main" id="{53EB807A-C8BB-55A1-F55F-6F077CAE958B}"/>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ntent Placeholder 2">
            <a:extLst>
              <a:ext uri="{FF2B5EF4-FFF2-40B4-BE49-F238E27FC236}">
                <a16:creationId xmlns:a16="http://schemas.microsoft.com/office/drawing/2014/main" id="{95BEA4B6-EC28-2C24-F7EA-69B44DB822F9}"/>
              </a:ext>
            </a:extLst>
          </p:cNvPr>
          <p:cNvSpPr txBox="1">
            <a:spLocks/>
          </p:cNvSpPr>
          <p:nvPr/>
        </p:nvSpPr>
        <p:spPr>
          <a:xfrm>
            <a:off x="582706" y="4249271"/>
            <a:ext cx="10515600" cy="18136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a:latin typeface="Calibri" panose="020F0502020204030204" pitchFamily="34" charset="0"/>
                <a:cs typeface="Calibri" panose="020F0502020204030204" pitchFamily="34" charset="0"/>
              </a:rPr>
              <a:t>Business Problem: Customer attrition is eroding both revenue and long-term customer value. The current satisfaction score indicates underlying service quality issues, while concentrated regional churn suggests inconsistent customer experience across states. </a:t>
            </a:r>
          </a:p>
          <a:p>
            <a:pPr marL="0" indent="0">
              <a:buFont typeface="Arial" panose="020B0604020202020204" pitchFamily="34" charset="0"/>
              <a:buNone/>
            </a:pPr>
            <a:r>
              <a:rPr lang="en-US" sz="1400">
                <a:latin typeface="Calibri" panose="020F0502020204030204" pitchFamily="34" charset="0"/>
                <a:cs typeface="Calibri" panose="020F0502020204030204" pitchFamily="34" charset="0"/>
              </a:rPr>
              <a:t>Business impact are revenue leakage, reduced customer lifetime value, increase acquisition costs to replace lost customers and declining market competitiveness.</a:t>
            </a: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5420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D4FAB-5C56-55C0-3BD4-004948B49347}"/>
              </a:ext>
            </a:extLst>
          </p:cNvPr>
          <p:cNvSpPr>
            <a:spLocks noGrp="1"/>
          </p:cNvSpPr>
          <p:nvPr>
            <p:ph type="title"/>
          </p:nvPr>
        </p:nvSpPr>
        <p:spPr>
          <a:xfrm>
            <a:off x="409492" y="420967"/>
            <a:ext cx="3169024" cy="468593"/>
          </a:xfrm>
        </p:spPr>
        <p:txBody>
          <a:bodyPr>
            <a:normAutofit fontScale="90000"/>
          </a:bodyPr>
          <a:lstStyle/>
          <a:p>
            <a:r>
              <a:rPr lang="en-US" sz="1400" b="1" dirty="0">
                <a:latin typeface="Calibri" panose="020F0502020204030204" pitchFamily="34" charset="0"/>
                <a:cs typeface="Calibri" panose="020F0502020204030204" pitchFamily="34" charset="0"/>
              </a:rPr>
              <a:t>Customer Demographics Dashboard</a:t>
            </a:r>
            <a:br>
              <a:rPr lang="en-US" sz="1400"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A810F8DB-0BE2-1F8E-8221-079253EE42A6}"/>
              </a:ext>
            </a:extLst>
          </p:cNvPr>
          <p:cNvSpPr txBox="1">
            <a:spLocks/>
          </p:cNvSpPr>
          <p:nvPr/>
        </p:nvSpPr>
        <p:spPr>
          <a:xfrm>
            <a:off x="409492" y="655263"/>
            <a:ext cx="4277083" cy="42529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	The average customer age is 48 years while the average tenure is 31 months. The customers aged 55 years and above recorded the highest number of churned customers which is mostly occur within the first sic=x months of customer onboarding</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	The gender distribution is almost equal, indicating churn is not significantly influenced by gender. Mobile SIM user experience the highest churn compared to broadband and router customer. Certain states consistently report higher customer count, making them strategically importance markets.</a:t>
            </a:r>
          </a:p>
          <a:p>
            <a:r>
              <a:rPr lang="en-US" sz="1400" dirty="0">
                <a:latin typeface="Calibri" panose="020F0502020204030204" pitchFamily="34" charset="0"/>
                <a:cs typeface="Calibri" panose="020F0502020204030204" pitchFamily="34" charset="0"/>
              </a:rPr>
              <a:t> </a:t>
            </a:r>
          </a:p>
          <a:p>
            <a:r>
              <a:rPr lang="en-US" sz="1400" dirty="0">
                <a:latin typeface="Calibri" panose="020F0502020204030204" pitchFamily="34" charset="0"/>
                <a:cs typeface="Calibri" panose="020F0502020204030204" pitchFamily="34" charset="0"/>
              </a:rPr>
              <a:t>Business problem: Customer retention effort are not adequately focused on the customer segments with highest churn risk. New Customers appear particularly vulnerable during the onboarding period.</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Business impact is failure to retain customer acquisition costs and reduces long-term profitability.</a:t>
            </a:r>
          </a:p>
          <a:p>
            <a:endParaRPr lang="en-US" sz="1400" dirty="0">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E95A61A-2ED5-DC9A-240F-14EFF32EE272}"/>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Block Arc 6">
            <a:extLst>
              <a:ext uri="{FF2B5EF4-FFF2-40B4-BE49-F238E27FC236}">
                <a16:creationId xmlns:a16="http://schemas.microsoft.com/office/drawing/2014/main" id="{6C6979C6-AE22-FE38-DB43-39414DC69769}"/>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Picture 9">
            <a:extLst>
              <a:ext uri="{FF2B5EF4-FFF2-40B4-BE49-F238E27FC236}">
                <a16:creationId xmlns:a16="http://schemas.microsoft.com/office/drawing/2014/main" id="{08730C3F-43BD-1B53-68AB-F05EE7323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0942" y="561926"/>
            <a:ext cx="6941566" cy="3897294"/>
          </a:xfrm>
          <a:prstGeom prst="rect">
            <a:avLst/>
          </a:prstGeom>
        </p:spPr>
      </p:pic>
    </p:spTree>
    <p:extLst>
      <p:ext uri="{BB962C8B-B14F-4D97-AF65-F5344CB8AC3E}">
        <p14:creationId xmlns:p14="http://schemas.microsoft.com/office/powerpoint/2010/main" val="1274620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760CD-448D-6414-37D4-2234215B12F7}"/>
              </a:ext>
            </a:extLst>
          </p:cNvPr>
          <p:cNvSpPr>
            <a:spLocks noGrp="1"/>
          </p:cNvSpPr>
          <p:nvPr>
            <p:ph type="title"/>
          </p:nvPr>
        </p:nvSpPr>
        <p:spPr>
          <a:xfrm>
            <a:off x="587189" y="365125"/>
            <a:ext cx="3088341" cy="482039"/>
          </a:xfrm>
        </p:spPr>
        <p:txBody>
          <a:bodyPr>
            <a:normAutofit/>
          </a:bodyPr>
          <a:lstStyle/>
          <a:p>
            <a:r>
              <a:rPr lang="en-US" sz="1400" b="1" dirty="0">
                <a:latin typeface="Calibri" panose="020F0502020204030204" pitchFamily="34" charset="0"/>
                <a:cs typeface="Calibri" panose="020F0502020204030204" pitchFamily="34" charset="0"/>
              </a:rPr>
              <a:t>Revenue &amp; Customer Value Dashboard</a:t>
            </a:r>
            <a:br>
              <a:rPr lang="en-US" sz="1400"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03B17B71-7962-5752-43AF-740E66907756}"/>
              </a:ext>
            </a:extLst>
          </p:cNvPr>
          <p:cNvSpPr txBox="1">
            <a:spLocks/>
          </p:cNvSpPr>
          <p:nvPr/>
        </p:nvSpPr>
        <p:spPr>
          <a:xfrm>
            <a:off x="587189" y="929901"/>
            <a:ext cx="4482352" cy="39244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	Total revenue reached 68.75 billion naira with 47.80 billion naira coming from active customers. The average revenue per purchase is approximately nineteen thousand naira. 5G Broadband Routers generate the highest revenue among device categories.</a:t>
            </a:r>
          </a:p>
          <a:p>
            <a:r>
              <a:rPr lang="en-US" sz="1400" dirty="0">
                <a:latin typeface="Calibri" panose="020F0502020204030204" pitchFamily="34" charset="0"/>
                <a:cs typeface="Calibri" panose="020F0502020204030204" pitchFamily="34" charset="0"/>
              </a:rPr>
              <a:t>	Customer age 55years and above contribute the largest share of revenue. Revenue peaks in February before declining sharply in March, indicating possible seasonal purchasing patterns, higher data usage does not necessarily correspond to higher revenue, suggesting opportunities to optimize pricing and monetization</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Business problem: Organization relies heavily on a limited number of customer segment and products for revenue generation </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Business impact: Loss of premium customers could significantly reduce profitability.</a:t>
            </a:r>
          </a:p>
        </p:txBody>
      </p:sp>
      <p:sp>
        <p:nvSpPr>
          <p:cNvPr id="8" name="Rectangle 7">
            <a:extLst>
              <a:ext uri="{FF2B5EF4-FFF2-40B4-BE49-F238E27FC236}">
                <a16:creationId xmlns:a16="http://schemas.microsoft.com/office/drawing/2014/main" id="{7B8EDF64-CCFA-27D8-F53B-C15142C7B351}"/>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Block Arc 6">
            <a:extLst>
              <a:ext uri="{FF2B5EF4-FFF2-40B4-BE49-F238E27FC236}">
                <a16:creationId xmlns:a16="http://schemas.microsoft.com/office/drawing/2014/main" id="{89E88A73-D457-6F9E-A849-F6E1D536703B}"/>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Picture 9">
            <a:extLst>
              <a:ext uri="{FF2B5EF4-FFF2-40B4-BE49-F238E27FC236}">
                <a16:creationId xmlns:a16="http://schemas.microsoft.com/office/drawing/2014/main" id="{F820DDBD-9914-E6B9-25F8-A9F3956AA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4508" y="1092370"/>
            <a:ext cx="6370303" cy="3570248"/>
          </a:xfrm>
          <a:prstGeom prst="rect">
            <a:avLst/>
          </a:prstGeom>
        </p:spPr>
      </p:pic>
    </p:spTree>
    <p:extLst>
      <p:ext uri="{BB962C8B-B14F-4D97-AF65-F5344CB8AC3E}">
        <p14:creationId xmlns:p14="http://schemas.microsoft.com/office/powerpoint/2010/main" val="235654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F3AD-B41B-D836-CBAC-BBC25DB20FF9}"/>
              </a:ext>
            </a:extLst>
          </p:cNvPr>
          <p:cNvSpPr>
            <a:spLocks noGrp="1"/>
          </p:cNvSpPr>
          <p:nvPr>
            <p:ph type="title"/>
          </p:nvPr>
        </p:nvSpPr>
        <p:spPr>
          <a:xfrm>
            <a:off x="838200" y="365126"/>
            <a:ext cx="2429435" cy="414804"/>
          </a:xfrm>
        </p:spPr>
        <p:txBody>
          <a:bodyPr>
            <a:normAutofit fontScale="90000"/>
          </a:bodyPr>
          <a:lstStyle/>
          <a:p>
            <a:r>
              <a:rPr lang="en-US" sz="1400" b="1" dirty="0">
                <a:latin typeface="Calibri" panose="020F0502020204030204" pitchFamily="34" charset="0"/>
                <a:cs typeface="Calibri" panose="020F0502020204030204" pitchFamily="34" charset="0"/>
              </a:rPr>
              <a:t>Churn Deep Dive Dashboard</a:t>
            </a:r>
            <a:br>
              <a:rPr lang="en-US" sz="1400"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0F6373C-F18D-924E-C44A-C09F06189F13}"/>
              </a:ext>
            </a:extLst>
          </p:cNvPr>
          <p:cNvSpPr>
            <a:spLocks noGrp="1"/>
          </p:cNvSpPr>
          <p:nvPr>
            <p:ph idx="1"/>
          </p:nvPr>
        </p:nvSpPr>
        <p:spPr>
          <a:xfrm>
            <a:off x="838200" y="672354"/>
            <a:ext cx="10515600" cy="2178422"/>
          </a:xfrm>
        </p:spPr>
        <p:txBody>
          <a:bodyPr>
            <a:noAutofit/>
          </a:bodyPr>
          <a:lstStyle/>
          <a:p>
            <a:pPr marL="0" indent="0">
              <a:buNone/>
            </a:pPr>
            <a:r>
              <a:rPr lang="en-US" sz="1400" dirty="0">
                <a:latin typeface="Calibri" panose="020F0502020204030204" pitchFamily="34" charset="0"/>
                <a:cs typeface="Calibri" panose="020F0502020204030204" pitchFamily="34" charset="0"/>
              </a:rPr>
              <a:t>Customer retention currently stands at 70.56%, while 29.44% of customer have churned. The largest number of churned customers are subscribed to premium monthly plans, suggesting pricing or perceived value concerns,</a:t>
            </a:r>
          </a:p>
          <a:p>
            <a:pPr marL="0" indent="0">
              <a:buNone/>
            </a:pPr>
            <a:r>
              <a:rPr lang="en-US" sz="1400" dirty="0">
                <a:latin typeface="Calibri" panose="020F0502020204030204" pitchFamily="34" charset="0"/>
                <a:cs typeface="Calibri" panose="020F0502020204030204" pitchFamily="34" charset="0"/>
              </a:rPr>
              <a:t>	The higher satisfaction score correspond with lower churn rate, reinforcing customer experience as a major retention driver, estimated revenue lost due to churn exceeds 20 billion naira.</a:t>
            </a:r>
          </a:p>
          <a:p>
            <a:pPr marL="0" indent="0">
              <a:buNone/>
            </a:pPr>
            <a:r>
              <a:rPr lang="en-US" sz="1400" dirty="0">
                <a:latin typeface="Calibri" panose="020F0502020204030204" pitchFamily="34" charset="0"/>
                <a:cs typeface="Calibri" panose="020F0502020204030204" pitchFamily="34" charset="0"/>
              </a:rPr>
              <a:t>Business problem: customer churn is primarily driven by preventable factors, including service quality , pricing concerns, and customer dissatisfaction </a:t>
            </a:r>
          </a:p>
          <a:p>
            <a:pPr marL="0" indent="0">
              <a:buNone/>
            </a:pPr>
            <a:r>
              <a:rPr lang="en-US" sz="1400" dirty="0">
                <a:latin typeface="Calibri" panose="020F0502020204030204" pitchFamily="34" charset="0"/>
                <a:cs typeface="Calibri" panose="020F0502020204030204" pitchFamily="34" charset="0"/>
              </a:rPr>
              <a:t>The Business impact continued churn at current level will reduce profitability, weaken market share, and increase marketing expenditure required to replace lost customers. </a:t>
            </a:r>
          </a:p>
        </p:txBody>
      </p:sp>
      <p:sp>
        <p:nvSpPr>
          <p:cNvPr id="6" name="Rectangle 5">
            <a:extLst>
              <a:ext uri="{FF2B5EF4-FFF2-40B4-BE49-F238E27FC236}">
                <a16:creationId xmlns:a16="http://schemas.microsoft.com/office/drawing/2014/main" id="{D6E3C637-8BA0-D408-BD63-3540B4FA9EB5}"/>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Block Arc 6">
            <a:extLst>
              <a:ext uri="{FF2B5EF4-FFF2-40B4-BE49-F238E27FC236}">
                <a16:creationId xmlns:a16="http://schemas.microsoft.com/office/drawing/2014/main" id="{BAD535B3-B2CD-F6CD-E4B2-0DBE983A53BF}"/>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a:extLst>
              <a:ext uri="{FF2B5EF4-FFF2-40B4-BE49-F238E27FC236}">
                <a16:creationId xmlns:a16="http://schemas.microsoft.com/office/drawing/2014/main" id="{E8D58F6F-3CF4-38CF-51F8-95CCF40ACD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671" y="2818620"/>
            <a:ext cx="6490447" cy="3674254"/>
          </a:xfrm>
          <a:prstGeom prst="rect">
            <a:avLst/>
          </a:prstGeom>
        </p:spPr>
      </p:pic>
    </p:spTree>
    <p:extLst>
      <p:ext uri="{BB962C8B-B14F-4D97-AF65-F5344CB8AC3E}">
        <p14:creationId xmlns:p14="http://schemas.microsoft.com/office/powerpoint/2010/main" val="4003597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EF5A-458B-39BB-01D7-E977E9B1DF1E}"/>
              </a:ext>
            </a:extLst>
          </p:cNvPr>
          <p:cNvSpPr>
            <a:spLocks noGrp="1"/>
          </p:cNvSpPr>
          <p:nvPr>
            <p:ph type="title"/>
          </p:nvPr>
        </p:nvSpPr>
        <p:spPr>
          <a:xfrm>
            <a:off x="489618" y="365125"/>
            <a:ext cx="2994212" cy="468593"/>
          </a:xfrm>
        </p:spPr>
        <p:txBody>
          <a:bodyPr>
            <a:normAutofit fontScale="90000"/>
          </a:bodyPr>
          <a:lstStyle/>
          <a:p>
            <a:r>
              <a:rPr lang="en-US" sz="1400" b="1" dirty="0">
                <a:latin typeface="Calibri" panose="020F0502020204030204" pitchFamily="34" charset="0"/>
                <a:cs typeface="Calibri" panose="020F0502020204030204" pitchFamily="34" charset="0"/>
              </a:rPr>
              <a:t>Customer Retention &amp; Risk Dashboard</a:t>
            </a:r>
            <a:br>
              <a:rPr lang="en-US" sz="1400"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933D511C-53B6-00F0-76ED-69C1F306FB27}"/>
              </a:ext>
            </a:extLst>
          </p:cNvPr>
          <p:cNvSpPr txBox="1">
            <a:spLocks/>
          </p:cNvSpPr>
          <p:nvPr/>
        </p:nvSpPr>
        <p:spPr>
          <a:xfrm>
            <a:off x="489617" y="833717"/>
            <a:ext cx="3988253" cy="46930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Calibri" panose="020F0502020204030204" pitchFamily="34" charset="0"/>
                <a:cs typeface="Calibri" panose="020F0502020204030204" pitchFamily="34" charset="0"/>
              </a:rPr>
              <a:t>	The analysis shows the retention rate is 70.56%. Revenue lost from churn is approximately 21 billion naira. The Largest revenue losses are associated with:</a:t>
            </a:r>
          </a:p>
          <a:p>
            <a:endParaRPr lang="en-US" sz="1400" dirty="0">
              <a:latin typeface="Calibri" panose="020F0502020204030204" pitchFamily="34" charset="0"/>
              <a:cs typeface="Calibri" panose="020F0502020204030204" pitchFamily="34" charset="0"/>
            </a:endParaRPr>
          </a:p>
          <a:p>
            <a:pPr marL="285750" indent="-285750">
              <a:buFontTx/>
              <a:buChar char="-"/>
            </a:pPr>
            <a:r>
              <a:rPr lang="en-US" sz="1400" dirty="0">
                <a:latin typeface="Calibri" panose="020F0502020204030204" pitchFamily="34" charset="0"/>
                <a:cs typeface="Calibri" panose="020F0502020204030204" pitchFamily="34" charset="0"/>
              </a:rPr>
              <a:t>Better competitor offers</a:t>
            </a:r>
          </a:p>
          <a:p>
            <a:pPr marL="285750" indent="-285750">
              <a:buFontTx/>
              <a:buChar char="-"/>
            </a:pPr>
            <a:r>
              <a:rPr lang="en-US" sz="1400" dirty="0">
                <a:latin typeface="Calibri" panose="020F0502020204030204" pitchFamily="34" charset="0"/>
                <a:cs typeface="Calibri" panose="020F0502020204030204" pitchFamily="34" charset="0"/>
              </a:rPr>
              <a:t>Poor customer service</a:t>
            </a:r>
          </a:p>
          <a:p>
            <a:pPr marL="285750" indent="-285750">
              <a:buFontTx/>
              <a:buChar char="-"/>
            </a:pPr>
            <a:r>
              <a:rPr lang="en-US" sz="1400" dirty="0">
                <a:latin typeface="Calibri" panose="020F0502020204030204" pitchFamily="34" charset="0"/>
                <a:cs typeface="Calibri" panose="020F0502020204030204" pitchFamily="34" charset="0"/>
              </a:rPr>
              <a:t>High tariff </a:t>
            </a:r>
          </a:p>
          <a:p>
            <a:pPr marL="285750" indent="-285750">
              <a:buFontTx/>
              <a:buChar char="-"/>
            </a:pPr>
            <a:r>
              <a:rPr lang="en-US" sz="1400" dirty="0">
                <a:latin typeface="Calibri" panose="020F0502020204030204" pitchFamily="34" charset="0"/>
                <a:cs typeface="Calibri" panose="020F0502020204030204" pitchFamily="34" charset="0"/>
              </a:rPr>
              <a:t>Poor network quality</a:t>
            </a:r>
          </a:p>
          <a:p>
            <a:pPr marL="285750" indent="-285750">
              <a:buFontTx/>
              <a:buChar char="-"/>
            </a:pPr>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Most retained customer belong to a few subscription plans, indicating strong customer preference for these offerings, customer risk is high during the first six(6) months of service. Gender has minimal influence on retention risk.</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Business problem: The organization currently lack proactive customer retention strategies for high-risk customers. customer intervention often occur only after churn has already happened.</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The business impact delayed intervention increase revenue loss and reduce the effectiveness of retention investments. </a:t>
            </a:r>
          </a:p>
        </p:txBody>
      </p:sp>
      <p:sp>
        <p:nvSpPr>
          <p:cNvPr id="8" name="Rectangle 7">
            <a:extLst>
              <a:ext uri="{FF2B5EF4-FFF2-40B4-BE49-F238E27FC236}">
                <a16:creationId xmlns:a16="http://schemas.microsoft.com/office/drawing/2014/main" id="{9ED12D1B-B647-061E-481B-E0231197C713}"/>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Block Arc 6">
            <a:extLst>
              <a:ext uri="{FF2B5EF4-FFF2-40B4-BE49-F238E27FC236}">
                <a16:creationId xmlns:a16="http://schemas.microsoft.com/office/drawing/2014/main" id="{80B05B8F-2DC3-130F-9267-ED3E766181FA}"/>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Picture 9">
            <a:extLst>
              <a:ext uri="{FF2B5EF4-FFF2-40B4-BE49-F238E27FC236}">
                <a16:creationId xmlns:a16="http://schemas.microsoft.com/office/drawing/2014/main" id="{EDD2D399-B4E1-76D2-4BF1-F6AEA66A9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5788" y="833718"/>
            <a:ext cx="7076594" cy="3971153"/>
          </a:xfrm>
          <a:prstGeom prst="rect">
            <a:avLst/>
          </a:prstGeom>
        </p:spPr>
      </p:pic>
    </p:spTree>
    <p:extLst>
      <p:ext uri="{BB962C8B-B14F-4D97-AF65-F5344CB8AC3E}">
        <p14:creationId xmlns:p14="http://schemas.microsoft.com/office/powerpoint/2010/main" val="665338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85D76-D729-5450-2C19-4F2B9D61EDB9}"/>
              </a:ext>
            </a:extLst>
          </p:cNvPr>
          <p:cNvSpPr>
            <a:spLocks noGrp="1"/>
          </p:cNvSpPr>
          <p:nvPr>
            <p:ph type="title"/>
          </p:nvPr>
        </p:nvSpPr>
        <p:spPr>
          <a:xfrm>
            <a:off x="838200" y="365126"/>
            <a:ext cx="10515600" cy="455146"/>
          </a:xfrm>
        </p:spPr>
        <p:txBody>
          <a:bodyPr>
            <a:normAutofit fontScale="90000"/>
          </a:bodyPr>
          <a:lstStyle/>
          <a:p>
            <a:r>
              <a:rPr lang="en-US" sz="1400" b="1" dirty="0">
                <a:latin typeface="Calibri" panose="020F0502020204030204" pitchFamily="34" charset="0"/>
                <a:cs typeface="Calibri" panose="020F0502020204030204" pitchFamily="34" charset="0"/>
              </a:rPr>
              <a:t>Strategic Recommendation</a:t>
            </a:r>
            <a:br>
              <a:rPr lang="en-US" sz="1400"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4FB34B0-DF69-2C69-71A9-F8D4CCE732B9}"/>
              </a:ext>
            </a:extLst>
          </p:cNvPr>
          <p:cNvSpPr>
            <a:spLocks noGrp="1"/>
          </p:cNvSpPr>
          <p:nvPr>
            <p:ph idx="1"/>
          </p:nvPr>
        </p:nvSpPr>
        <p:spPr>
          <a:xfrm>
            <a:off x="838200" y="685800"/>
            <a:ext cx="10515600" cy="5491163"/>
          </a:xfrm>
        </p:spPr>
        <p:txBody>
          <a:bodyPr>
            <a:noAutofit/>
          </a:bodyPr>
          <a:lstStyle/>
          <a:p>
            <a:pPr marL="0" indent="0">
              <a:buNone/>
            </a:pPr>
            <a:r>
              <a:rPr lang="en-US" sz="1400" dirty="0">
                <a:latin typeface="Calibri" panose="020F0502020204030204" pitchFamily="34" charset="0"/>
                <a:cs typeface="Calibri" panose="020F0502020204030204" pitchFamily="34" charset="0"/>
              </a:rPr>
              <a:t>Based on the analysis, the following actions are recommended to reduce customer churn and improve customer retention:</a:t>
            </a:r>
          </a:p>
          <a:p>
            <a:pPr marL="0" indent="0">
              <a:buNone/>
            </a:pPr>
            <a:r>
              <a:rPr lang="en-US" sz="1400" dirty="0">
                <a:latin typeface="Calibri" panose="020F0502020204030204" pitchFamily="34" charset="0"/>
                <a:cs typeface="Calibri" panose="020F0502020204030204" pitchFamily="34" charset="0"/>
              </a:rPr>
              <a:t>Improve Customer Experience</a:t>
            </a:r>
          </a:p>
          <a:p>
            <a:pPr>
              <a:buFontTx/>
              <a:buChar char="-"/>
            </a:pPr>
            <a:r>
              <a:rPr lang="en-US" sz="1400" dirty="0">
                <a:latin typeface="Calibri" panose="020F0502020204030204" pitchFamily="34" charset="0"/>
                <a:cs typeface="Calibri" panose="020F0502020204030204" pitchFamily="34" charset="0"/>
              </a:rPr>
              <a:t>Enhance network reliability and service quality</a:t>
            </a:r>
          </a:p>
          <a:p>
            <a:pPr>
              <a:buFontTx/>
              <a:buChar char="-"/>
            </a:pPr>
            <a:r>
              <a:rPr lang="en-US" sz="1400" dirty="0">
                <a:latin typeface="Calibri" panose="020F0502020204030204" pitchFamily="34" charset="0"/>
                <a:cs typeface="Calibri" panose="020F0502020204030204" pitchFamily="34" charset="0"/>
              </a:rPr>
              <a:t>Reduce customer complaints through faster issue resolution</a:t>
            </a:r>
          </a:p>
          <a:p>
            <a:pPr>
              <a:buFontTx/>
              <a:buChar char="-"/>
            </a:pPr>
            <a:r>
              <a:rPr lang="en-US" sz="1400" dirty="0">
                <a:latin typeface="Calibri" panose="020F0502020204030204" pitchFamily="34" charset="0"/>
                <a:cs typeface="Calibri" panose="020F0502020204030204" pitchFamily="34" charset="0"/>
              </a:rPr>
              <a:t>Continuously monitor customer satisfaction to identify service gaps</a:t>
            </a:r>
          </a:p>
          <a:p>
            <a:pPr marL="0" indent="0">
              <a:buNone/>
            </a:pPr>
            <a:r>
              <a:rPr lang="en-US" sz="1400" dirty="0">
                <a:latin typeface="Calibri" panose="020F0502020204030204" pitchFamily="34" charset="0"/>
                <a:cs typeface="Calibri" panose="020F0502020204030204" pitchFamily="34" charset="0"/>
              </a:rPr>
              <a:t>Implement Predictive Churn Analysis</a:t>
            </a:r>
          </a:p>
          <a:p>
            <a:pPr>
              <a:buFontTx/>
              <a:buChar char="-"/>
            </a:pPr>
            <a:r>
              <a:rPr lang="en-US" sz="1400" dirty="0">
                <a:latin typeface="Calibri" panose="020F0502020204030204" pitchFamily="34" charset="0"/>
                <a:cs typeface="Calibri" panose="020F0502020204030204" pitchFamily="34" charset="0"/>
              </a:rPr>
              <a:t>Use historical customer data to identify subscribers at risk of churn</a:t>
            </a:r>
          </a:p>
          <a:p>
            <a:pPr>
              <a:buFontTx/>
              <a:buChar char="-"/>
            </a:pPr>
            <a:r>
              <a:rPr lang="en-US" sz="1400" dirty="0">
                <a:latin typeface="Calibri" panose="020F0502020204030204" pitchFamily="34" charset="0"/>
                <a:cs typeface="Calibri" panose="020F0502020204030204" pitchFamily="34" charset="0"/>
              </a:rPr>
              <a:t>Proactively engage at-risk customers with personalized retention offers and support</a:t>
            </a:r>
          </a:p>
          <a:p>
            <a:pPr marL="0" indent="0">
              <a:buNone/>
            </a:pPr>
            <a:r>
              <a:rPr lang="en-US" sz="1400" dirty="0">
                <a:latin typeface="Calibri" panose="020F0502020204030204" pitchFamily="34" charset="0"/>
                <a:cs typeface="Calibri" panose="020F0502020204030204" pitchFamily="34" charset="0"/>
              </a:rPr>
              <a:t>Optimize Subscription Plans</a:t>
            </a:r>
          </a:p>
          <a:p>
            <a:pPr>
              <a:buFontTx/>
              <a:buChar char="-"/>
            </a:pPr>
            <a:r>
              <a:rPr lang="en-US" sz="1400" dirty="0">
                <a:latin typeface="Calibri" panose="020F0502020204030204" pitchFamily="34" charset="0"/>
                <a:cs typeface="Calibri" panose="020F0502020204030204" pitchFamily="34" charset="0"/>
              </a:rPr>
              <a:t>Review pricing strategies and redesign underperforming plans</a:t>
            </a:r>
          </a:p>
          <a:p>
            <a:pPr>
              <a:buFontTx/>
              <a:buChar char="-"/>
            </a:pPr>
            <a:r>
              <a:rPr lang="en-US" sz="1400" dirty="0">
                <a:latin typeface="Calibri" panose="020F0502020204030204" pitchFamily="34" charset="0"/>
                <a:cs typeface="Calibri" panose="020F0502020204030204" pitchFamily="34" charset="0"/>
              </a:rPr>
              <a:t>Introduce flexible bundles and loyalty rewards tailored to customer segments</a:t>
            </a:r>
          </a:p>
          <a:p>
            <a:pPr marL="0" indent="0">
              <a:buNone/>
            </a:pPr>
            <a:r>
              <a:rPr lang="en-US" sz="1400" dirty="0">
                <a:latin typeface="Calibri" panose="020F0502020204030204" pitchFamily="34" charset="0"/>
                <a:cs typeface="Calibri" panose="020F0502020204030204" pitchFamily="34" charset="0"/>
              </a:rPr>
              <a:t>Personalize Customer Engagement</a:t>
            </a:r>
          </a:p>
          <a:p>
            <a:pPr>
              <a:buFontTx/>
              <a:buChar char="-"/>
            </a:pPr>
            <a:r>
              <a:rPr lang="en-US" sz="1400" dirty="0">
                <a:latin typeface="Calibri" panose="020F0502020204030204" pitchFamily="34" charset="0"/>
                <a:cs typeface="Calibri" panose="020F0502020204030204" pitchFamily="34" charset="0"/>
              </a:rPr>
              <a:t>Segment customer based on demographics, tenure, and usage patterns</a:t>
            </a:r>
          </a:p>
          <a:p>
            <a:pPr>
              <a:buFontTx/>
              <a:buChar char="-"/>
            </a:pPr>
            <a:r>
              <a:rPr lang="en-US" sz="1400" dirty="0">
                <a:latin typeface="Calibri" panose="020F0502020204030204" pitchFamily="34" charset="0"/>
                <a:cs typeface="Calibri" panose="020F0502020204030204" pitchFamily="34" charset="0"/>
              </a:rPr>
              <a:t>Deliver targeted marketing campaigns and personalized promotions</a:t>
            </a:r>
          </a:p>
          <a:p>
            <a:pPr marL="0" indent="0">
              <a:buNone/>
            </a:pPr>
            <a:r>
              <a:rPr lang="en-US" sz="1400" dirty="0">
                <a:latin typeface="Calibri" panose="020F0502020204030204" pitchFamily="34" charset="0"/>
                <a:cs typeface="Calibri" panose="020F0502020204030204" pitchFamily="34" charset="0"/>
              </a:rPr>
              <a:t>Strengthen Customer Retention Programs</a:t>
            </a:r>
          </a:p>
          <a:p>
            <a:pPr>
              <a:buFontTx/>
              <a:buChar char="-"/>
            </a:pPr>
            <a:r>
              <a:rPr lang="en-US" sz="1400" dirty="0">
                <a:latin typeface="Calibri" panose="020F0502020204030204" pitchFamily="34" charset="0"/>
                <a:cs typeface="Calibri" panose="020F0502020204030204" pitchFamily="34" charset="0"/>
              </a:rPr>
              <a:t>Reward long-term customer with exclusive benefits and incentives</a:t>
            </a:r>
          </a:p>
          <a:p>
            <a:pPr>
              <a:buFontTx/>
              <a:buChar char="-"/>
            </a:pPr>
            <a:r>
              <a:rPr lang="en-US" sz="1400" dirty="0">
                <a:latin typeface="Calibri" panose="020F0502020204030204" pitchFamily="34" charset="0"/>
                <a:cs typeface="Calibri" panose="020F0502020204030204" pitchFamily="34" charset="0"/>
              </a:rPr>
              <a:t>Focus retention effort on early-tenure customer who are more likely to churn</a:t>
            </a:r>
          </a:p>
        </p:txBody>
      </p:sp>
      <p:sp>
        <p:nvSpPr>
          <p:cNvPr id="4" name="Rectangle 3">
            <a:extLst>
              <a:ext uri="{FF2B5EF4-FFF2-40B4-BE49-F238E27FC236}">
                <a16:creationId xmlns:a16="http://schemas.microsoft.com/office/drawing/2014/main" id="{D27308E2-A148-90DD-40BC-78A27D4D38C2}"/>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lock Arc 6">
            <a:extLst>
              <a:ext uri="{FF2B5EF4-FFF2-40B4-BE49-F238E27FC236}">
                <a16:creationId xmlns:a16="http://schemas.microsoft.com/office/drawing/2014/main" id="{E17503C9-D904-2E24-225F-4EB4E1B3A897}"/>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62809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C21D-590C-07EE-B38F-C55229A09646}"/>
              </a:ext>
            </a:extLst>
          </p:cNvPr>
          <p:cNvSpPr>
            <a:spLocks noGrp="1"/>
          </p:cNvSpPr>
          <p:nvPr>
            <p:ph type="title"/>
          </p:nvPr>
        </p:nvSpPr>
        <p:spPr>
          <a:xfrm>
            <a:off x="838200" y="365125"/>
            <a:ext cx="10515600" cy="495487"/>
          </a:xfrm>
        </p:spPr>
        <p:txBody>
          <a:bodyPr>
            <a:normAutofit/>
          </a:bodyPr>
          <a:lstStyle/>
          <a:p>
            <a:r>
              <a:rPr lang="en-US" sz="1400" b="1" dirty="0">
                <a:latin typeface="Calibri" panose="020F0502020204030204" pitchFamily="34" charset="0"/>
                <a:cs typeface="Calibri" panose="020F0502020204030204" pitchFamily="34" charset="0"/>
              </a:rPr>
              <a:t>Technical Stack</a:t>
            </a:r>
            <a:br>
              <a:rPr lang="en-US" sz="1400"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AEC2A78C-CFF5-286A-A298-26603E1B1F27}"/>
              </a:ext>
            </a:extLst>
          </p:cNvPr>
          <p:cNvSpPr>
            <a:spLocks noGrp="1"/>
          </p:cNvSpPr>
          <p:nvPr>
            <p:ph idx="1"/>
          </p:nvPr>
        </p:nvSpPr>
        <p:spPr>
          <a:xfrm>
            <a:off x="838200" y="712694"/>
            <a:ext cx="10515600" cy="5889812"/>
          </a:xfrm>
        </p:spPr>
        <p:txBody>
          <a:bodyPr>
            <a:normAutofit fontScale="92500" lnSpcReduction="20000"/>
          </a:bodyPr>
          <a:lstStyle/>
          <a:p>
            <a:pPr marL="0" lvl="0" indent="0">
              <a:buNone/>
            </a:pPr>
            <a:r>
              <a:rPr lang="en-US" sz="1400" dirty="0">
                <a:latin typeface="Calibri" panose="020F0502020204030204" pitchFamily="34" charset="0"/>
                <a:cs typeface="Calibri" panose="020F0502020204030204" pitchFamily="34" charset="0"/>
              </a:rPr>
              <a:t>Tools Used</a:t>
            </a:r>
          </a:p>
          <a:p>
            <a:pPr marL="0" lvl="0" indent="0">
              <a:buNone/>
            </a:pPr>
            <a:r>
              <a:rPr lang="en-US" sz="1400" dirty="0">
                <a:latin typeface="Calibri" panose="020F0502020204030204" pitchFamily="34" charset="0"/>
                <a:cs typeface="Calibri" panose="020F0502020204030204" pitchFamily="34" charset="0"/>
              </a:rPr>
              <a:t>Microsoft Power BI</a:t>
            </a:r>
          </a:p>
          <a:p>
            <a:pPr lvl="0">
              <a:buFontTx/>
              <a:buChar char="-"/>
            </a:pPr>
            <a:r>
              <a:rPr lang="en-US" sz="1400" dirty="0">
                <a:latin typeface="Calibri" panose="020F0502020204030204" pitchFamily="34" charset="0"/>
                <a:cs typeface="Calibri" panose="020F0502020204030204" pitchFamily="34" charset="0"/>
              </a:rPr>
              <a:t>Interactive dashboard development</a:t>
            </a:r>
          </a:p>
          <a:p>
            <a:pPr lvl="0">
              <a:buFontTx/>
              <a:buChar char="-"/>
            </a:pPr>
            <a:r>
              <a:rPr lang="en-US" sz="1400" dirty="0">
                <a:latin typeface="Calibri" panose="020F0502020204030204" pitchFamily="34" charset="0"/>
                <a:cs typeface="Calibri" panose="020F0502020204030204" pitchFamily="34" charset="0"/>
              </a:rPr>
              <a:t>Data visualization</a:t>
            </a:r>
          </a:p>
          <a:p>
            <a:pPr lvl="0">
              <a:buFontTx/>
              <a:buChar char="-"/>
            </a:pPr>
            <a:r>
              <a:rPr lang="en-US" sz="1400" dirty="0">
                <a:latin typeface="Calibri" panose="020F0502020204030204" pitchFamily="34" charset="0"/>
                <a:cs typeface="Calibri" panose="020F0502020204030204" pitchFamily="34" charset="0"/>
              </a:rPr>
              <a:t>Executive reporting</a:t>
            </a:r>
          </a:p>
          <a:p>
            <a:pPr marL="0" lvl="0" indent="0">
              <a:buNone/>
            </a:pPr>
            <a:r>
              <a:rPr lang="en-US" sz="1400" dirty="0">
                <a:latin typeface="Calibri" panose="020F0502020204030204" pitchFamily="34" charset="0"/>
                <a:cs typeface="Calibri" panose="020F0502020204030204" pitchFamily="34" charset="0"/>
              </a:rPr>
              <a:t>Power Query</a:t>
            </a:r>
          </a:p>
          <a:p>
            <a:pPr lvl="0">
              <a:buFontTx/>
              <a:buChar char="-"/>
            </a:pPr>
            <a:r>
              <a:rPr lang="en-US" sz="1400" dirty="0">
                <a:latin typeface="Calibri" panose="020F0502020204030204" pitchFamily="34" charset="0"/>
                <a:cs typeface="Calibri" panose="020F0502020204030204" pitchFamily="34" charset="0"/>
              </a:rPr>
              <a:t>Data cleaning and transformation</a:t>
            </a:r>
          </a:p>
          <a:p>
            <a:pPr lvl="0">
              <a:buFontTx/>
              <a:buChar char="-"/>
            </a:pPr>
            <a:r>
              <a:rPr lang="en-US" sz="1400" dirty="0">
                <a:latin typeface="Calibri" panose="020F0502020204030204" pitchFamily="34" charset="0"/>
                <a:cs typeface="Calibri" panose="020F0502020204030204" pitchFamily="34" charset="0"/>
              </a:rPr>
              <a:t>Data quality improvement</a:t>
            </a:r>
          </a:p>
          <a:p>
            <a:pPr marL="0" lvl="0" indent="0">
              <a:buNone/>
            </a:pPr>
            <a:r>
              <a:rPr lang="en-US" sz="1400" dirty="0">
                <a:latin typeface="Calibri" panose="020F0502020204030204" pitchFamily="34" charset="0"/>
                <a:cs typeface="Calibri" panose="020F0502020204030204" pitchFamily="34" charset="0"/>
              </a:rPr>
              <a:t>DAX (Data Analysis Expression)</a:t>
            </a:r>
          </a:p>
          <a:p>
            <a:pPr lvl="0">
              <a:buFontTx/>
              <a:buChar char="-"/>
            </a:pPr>
            <a:r>
              <a:rPr lang="en-US" sz="1400" dirty="0">
                <a:latin typeface="Calibri" panose="020F0502020204030204" pitchFamily="34" charset="0"/>
                <a:cs typeface="Calibri" panose="020F0502020204030204" pitchFamily="34" charset="0"/>
              </a:rPr>
              <a:t>KPI’s calculation </a:t>
            </a:r>
          </a:p>
          <a:p>
            <a:pPr lvl="0">
              <a:buFontTx/>
              <a:buChar char="-"/>
            </a:pPr>
            <a:r>
              <a:rPr lang="en-US" sz="1400" dirty="0">
                <a:latin typeface="Calibri" panose="020F0502020204030204" pitchFamily="34" charset="0"/>
                <a:cs typeface="Calibri" panose="020F0502020204030204" pitchFamily="34" charset="0"/>
              </a:rPr>
              <a:t>Business measure</a:t>
            </a:r>
          </a:p>
          <a:p>
            <a:pPr lvl="0">
              <a:buFontTx/>
              <a:buChar char="-"/>
            </a:pPr>
            <a:r>
              <a:rPr lang="en-US" sz="1400" dirty="0">
                <a:latin typeface="Calibri" panose="020F0502020204030204" pitchFamily="34" charset="0"/>
                <a:cs typeface="Calibri" panose="020F0502020204030204" pitchFamily="34" charset="0"/>
              </a:rPr>
              <a:t>Time intelligence</a:t>
            </a:r>
          </a:p>
          <a:p>
            <a:pPr marL="0" lvl="0" indent="0">
              <a:buNone/>
            </a:pPr>
            <a:r>
              <a:rPr lang="en-US" sz="1400" dirty="0">
                <a:latin typeface="Calibri" panose="020F0502020204030204" pitchFamily="34" charset="0"/>
                <a:cs typeface="Calibri" panose="020F0502020204030204" pitchFamily="34" charset="0"/>
              </a:rPr>
              <a:t>Techniques Applied</a:t>
            </a:r>
          </a:p>
          <a:p>
            <a:pPr lvl="0">
              <a:buFontTx/>
              <a:buChar char="-"/>
            </a:pPr>
            <a:r>
              <a:rPr lang="en-US" sz="1400" dirty="0">
                <a:latin typeface="Calibri" panose="020F0502020204030204" pitchFamily="34" charset="0"/>
                <a:cs typeface="Calibri" panose="020F0502020204030204" pitchFamily="34" charset="0"/>
              </a:rPr>
              <a:t>ETL (Extract, Transform, Load)</a:t>
            </a:r>
          </a:p>
          <a:p>
            <a:pPr lvl="0">
              <a:buFontTx/>
              <a:buChar char="-"/>
            </a:pPr>
            <a:r>
              <a:rPr lang="en-US" sz="1400" dirty="0">
                <a:latin typeface="Calibri" panose="020F0502020204030204" pitchFamily="34" charset="0"/>
                <a:cs typeface="Calibri" panose="020F0502020204030204" pitchFamily="34" charset="0"/>
              </a:rPr>
              <a:t>Star Schema Data Modeling </a:t>
            </a:r>
          </a:p>
          <a:p>
            <a:pPr lvl="0">
              <a:buFontTx/>
              <a:buChar char="-"/>
            </a:pPr>
            <a:r>
              <a:rPr lang="en-US" sz="1400" dirty="0">
                <a:latin typeface="Calibri" panose="020F0502020204030204" pitchFamily="34" charset="0"/>
                <a:cs typeface="Calibri" panose="020F0502020204030204" pitchFamily="34" charset="0"/>
              </a:rPr>
              <a:t>Customer Segmentation</a:t>
            </a:r>
          </a:p>
          <a:p>
            <a:pPr lvl="0">
              <a:buFontTx/>
              <a:buChar char="-"/>
            </a:pPr>
            <a:r>
              <a:rPr lang="en-US" sz="1400" dirty="0">
                <a:latin typeface="Calibri" panose="020F0502020204030204" pitchFamily="34" charset="0"/>
                <a:cs typeface="Calibri" panose="020F0502020204030204" pitchFamily="34" charset="0"/>
              </a:rPr>
              <a:t>Revenue Analysis</a:t>
            </a:r>
          </a:p>
          <a:p>
            <a:pPr lvl="0">
              <a:buFontTx/>
              <a:buChar char="-"/>
            </a:pPr>
            <a:r>
              <a:rPr lang="en-US" sz="1400" dirty="0">
                <a:latin typeface="Calibri" panose="020F0502020204030204" pitchFamily="34" charset="0"/>
                <a:cs typeface="Calibri" panose="020F0502020204030204" pitchFamily="34" charset="0"/>
              </a:rPr>
              <a:t>Customer churn Analysis</a:t>
            </a:r>
          </a:p>
          <a:p>
            <a:pPr lvl="0">
              <a:buFontTx/>
              <a:buChar char="-"/>
            </a:pPr>
            <a:r>
              <a:rPr lang="en-US" sz="1400" dirty="0">
                <a:latin typeface="Calibri" panose="020F0502020204030204" pitchFamily="34" charset="0"/>
                <a:cs typeface="Calibri" panose="020F0502020204030204" pitchFamily="34" charset="0"/>
              </a:rPr>
              <a:t>KPI’s Development</a:t>
            </a:r>
          </a:p>
          <a:p>
            <a:pPr lvl="0">
              <a:buFontTx/>
              <a:buChar char="-"/>
            </a:pPr>
            <a:r>
              <a:rPr lang="en-US" sz="1400" dirty="0">
                <a:latin typeface="Calibri" panose="020F0502020204030204" pitchFamily="34" charset="0"/>
                <a:cs typeface="Calibri" panose="020F0502020204030204" pitchFamily="34" charset="0"/>
              </a:rPr>
              <a:t>Business Storytelling</a:t>
            </a:r>
          </a:p>
          <a:p>
            <a:pPr lvl="0">
              <a:buFontTx/>
              <a:buChar char="-"/>
            </a:pPr>
            <a:r>
              <a:rPr lang="en-US" sz="1400" dirty="0">
                <a:latin typeface="Calibri" panose="020F0502020204030204" pitchFamily="34" charset="0"/>
                <a:cs typeface="Calibri" panose="020F0502020204030204" pitchFamily="34" charset="0"/>
              </a:rPr>
              <a:t>Executive Decision Support</a:t>
            </a:r>
          </a:p>
          <a:p>
            <a:pPr marL="0" indent="0">
              <a:buNone/>
            </a:pPr>
            <a:endParaRPr lang="en-US" sz="14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66C4DE65-3D5B-69EE-97F2-FC532652D31D}"/>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lock Arc 6">
            <a:extLst>
              <a:ext uri="{FF2B5EF4-FFF2-40B4-BE49-F238E27FC236}">
                <a16:creationId xmlns:a16="http://schemas.microsoft.com/office/drawing/2014/main" id="{BE70FDFF-EA6B-DC48-B30E-E66C4BC772A8}"/>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73046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6B78F-56AE-B332-4E2F-11AE7CBA1C82}"/>
              </a:ext>
            </a:extLst>
          </p:cNvPr>
          <p:cNvSpPr>
            <a:spLocks noGrp="1"/>
          </p:cNvSpPr>
          <p:nvPr>
            <p:ph type="title"/>
          </p:nvPr>
        </p:nvSpPr>
        <p:spPr>
          <a:xfrm>
            <a:off x="838200" y="365125"/>
            <a:ext cx="10515600" cy="495487"/>
          </a:xfrm>
        </p:spPr>
        <p:txBody>
          <a:bodyPr>
            <a:normAutofit/>
          </a:bodyPr>
          <a:lstStyle/>
          <a:p>
            <a:r>
              <a:rPr lang="en-US" sz="1400" b="1" dirty="0">
                <a:latin typeface="Calibri" panose="020F0502020204030204" pitchFamily="34" charset="0"/>
                <a:cs typeface="Calibri" panose="020F0502020204030204" pitchFamily="34" charset="0"/>
              </a:rPr>
              <a:t>Lessons Learned</a:t>
            </a:r>
            <a:br>
              <a:rPr lang="en-US" sz="1400" dirty="0">
                <a:latin typeface="Calibri" panose="020F0502020204030204" pitchFamily="34" charset="0"/>
                <a:cs typeface="Calibri" panose="020F0502020204030204" pitchFamily="34" charset="0"/>
              </a:rPr>
            </a:br>
            <a:endParaRPr lang="en-US" sz="14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3EDF6DD-9809-D86B-F87B-D6C4FBDCA07F}"/>
              </a:ext>
            </a:extLst>
          </p:cNvPr>
          <p:cNvSpPr>
            <a:spLocks noGrp="1"/>
          </p:cNvSpPr>
          <p:nvPr>
            <p:ph idx="1"/>
          </p:nvPr>
        </p:nvSpPr>
        <p:spPr>
          <a:xfrm>
            <a:off x="838200" y="672353"/>
            <a:ext cx="10515600" cy="5504610"/>
          </a:xfrm>
        </p:spPr>
        <p:txBody>
          <a:bodyPr>
            <a:normAutofit/>
          </a:bodyPr>
          <a:lstStyle/>
          <a:p>
            <a:pPr marL="0" indent="0">
              <a:buNone/>
            </a:pPr>
            <a:r>
              <a:rPr lang="en-US" sz="1400" dirty="0">
                <a:latin typeface="Calibri" panose="020F0502020204030204" pitchFamily="34" charset="0"/>
                <a:cs typeface="Calibri" panose="020F0502020204030204" pitchFamily="34" charset="0"/>
              </a:rPr>
              <a:t>This project significantly strengthened my technical and analytical capabilities.</a:t>
            </a:r>
          </a:p>
          <a:p>
            <a:pPr marL="0" indent="0">
              <a:buNone/>
            </a:pPr>
            <a:r>
              <a:rPr lang="en-US" sz="1400" dirty="0">
                <a:latin typeface="Calibri" panose="020F0502020204030204" pitchFamily="34" charset="0"/>
                <a:cs typeface="Calibri" panose="020F0502020204030204" pitchFamily="34" charset="0"/>
              </a:rPr>
              <a:t>Technical Growth</a:t>
            </a:r>
          </a:p>
          <a:p>
            <a:pPr>
              <a:buFontTx/>
              <a:buChar char="-"/>
            </a:pPr>
            <a:r>
              <a:rPr lang="en-US" sz="1400" dirty="0">
                <a:latin typeface="Calibri" panose="020F0502020204030204" pitchFamily="34" charset="0"/>
                <a:cs typeface="Calibri" panose="020F0502020204030204" pitchFamily="34" charset="0"/>
              </a:rPr>
              <a:t>Improved proficiency in Power BI, Power Query, and DAX</a:t>
            </a:r>
          </a:p>
          <a:p>
            <a:pPr>
              <a:buFontTx/>
              <a:buChar char="-"/>
            </a:pPr>
            <a:r>
              <a:rPr lang="en-US" sz="1400" dirty="0">
                <a:latin typeface="Calibri" panose="020F0502020204030204" pitchFamily="34" charset="0"/>
                <a:cs typeface="Calibri" panose="020F0502020204030204" pitchFamily="34" charset="0"/>
              </a:rPr>
              <a:t>Gained practical experience in designing star schema data model</a:t>
            </a:r>
          </a:p>
          <a:p>
            <a:pPr>
              <a:buFontTx/>
              <a:buChar char="-"/>
            </a:pPr>
            <a:r>
              <a:rPr lang="en-US" sz="1400" dirty="0">
                <a:latin typeface="Calibri" panose="020F0502020204030204" pitchFamily="34" charset="0"/>
                <a:cs typeface="Calibri" panose="020F0502020204030204" pitchFamily="34" charset="0"/>
              </a:rPr>
              <a:t>Learned how to build scalable and interactive dashboards</a:t>
            </a:r>
          </a:p>
          <a:p>
            <a:pPr marL="0" indent="0">
              <a:buNone/>
            </a:pPr>
            <a:r>
              <a:rPr lang="en-US" sz="1400" dirty="0">
                <a:latin typeface="Calibri" panose="020F0502020204030204" pitchFamily="34" charset="0"/>
                <a:cs typeface="Calibri" panose="020F0502020204030204" pitchFamily="34" charset="0"/>
              </a:rPr>
              <a:t>Business Understanding </a:t>
            </a:r>
          </a:p>
          <a:p>
            <a:pPr>
              <a:buFontTx/>
              <a:buChar char="-"/>
            </a:pPr>
            <a:r>
              <a:rPr lang="en-US" sz="1400" dirty="0">
                <a:latin typeface="Calibri" panose="020F0502020204030204" pitchFamily="34" charset="0"/>
                <a:cs typeface="Calibri" panose="020F0502020204030204" pitchFamily="34" charset="0"/>
              </a:rPr>
              <a:t>Develop the ability to translate business problem into analytical solution</a:t>
            </a:r>
          </a:p>
          <a:p>
            <a:pPr>
              <a:buFontTx/>
              <a:buChar char="-"/>
            </a:pPr>
            <a:r>
              <a:rPr lang="en-US" sz="1400" dirty="0">
                <a:latin typeface="Calibri" panose="020F0502020204030204" pitchFamily="34" charset="0"/>
                <a:cs typeface="Calibri" panose="020F0502020204030204" pitchFamily="34" charset="0"/>
              </a:rPr>
              <a:t>Strengthened skill in customer analytics, revenue analysis, and KPI’s design</a:t>
            </a:r>
          </a:p>
          <a:p>
            <a:pPr>
              <a:buFontTx/>
              <a:buChar char="-"/>
            </a:pPr>
            <a:r>
              <a:rPr lang="en-US" sz="1400" dirty="0">
                <a:latin typeface="Calibri" panose="020F0502020204030204" pitchFamily="34" charset="0"/>
                <a:cs typeface="Calibri" panose="020F0502020204030204" pitchFamily="34" charset="0"/>
              </a:rPr>
              <a:t>Improve confidence in communicating insight to business stakeholders</a:t>
            </a:r>
          </a:p>
          <a:p>
            <a:pPr marL="0" indent="0">
              <a:buNone/>
            </a:pPr>
            <a:r>
              <a:rPr lang="en-US" sz="1400" dirty="0">
                <a:latin typeface="Calibri" panose="020F0502020204030204" pitchFamily="34" charset="0"/>
                <a:cs typeface="Calibri" panose="020F0502020204030204" pitchFamily="34" charset="0"/>
              </a:rPr>
              <a:t>Professional Development</a:t>
            </a:r>
          </a:p>
          <a:p>
            <a:pPr>
              <a:buFontTx/>
              <a:buChar char="-"/>
            </a:pPr>
            <a:r>
              <a:rPr lang="en-US" sz="1400" dirty="0">
                <a:latin typeface="Calibri" panose="020F0502020204030204" pitchFamily="34" charset="0"/>
                <a:cs typeface="Calibri" panose="020F0502020204030204" pitchFamily="34" charset="0"/>
              </a:rPr>
              <a:t>Enhance analytical thinking and problem-solving skills</a:t>
            </a:r>
          </a:p>
          <a:p>
            <a:pPr>
              <a:buFontTx/>
              <a:buChar char="-"/>
            </a:pPr>
            <a:r>
              <a:rPr lang="en-US" sz="1400" dirty="0">
                <a:latin typeface="Calibri" panose="020F0502020204030204" pitchFamily="34" charset="0"/>
                <a:cs typeface="Calibri" panose="020F0502020204030204" pitchFamily="34" charset="0"/>
              </a:rPr>
              <a:t>Learned the importance of data quality in producing reliable insights</a:t>
            </a:r>
          </a:p>
          <a:p>
            <a:pPr>
              <a:buFontTx/>
              <a:buChar char="-"/>
            </a:pPr>
            <a:r>
              <a:rPr lang="en-US" sz="1400" dirty="0">
                <a:latin typeface="Calibri" panose="020F0502020204030204" pitchFamily="34" charset="0"/>
                <a:cs typeface="Calibri" panose="020F0502020204030204" pitchFamily="34" charset="0"/>
              </a:rPr>
              <a:t>Understood that effective Business Intelligent is about supporting business decisions, not just creating visualizations</a:t>
            </a:r>
          </a:p>
          <a:p>
            <a:pPr marL="0" indent="0">
              <a:buNone/>
            </a:pPr>
            <a:endParaRPr lang="en-US" sz="14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57C58E28-F967-AB1A-967A-2B6D024B1D67}"/>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lock Arc 6">
            <a:extLst>
              <a:ext uri="{FF2B5EF4-FFF2-40B4-BE49-F238E27FC236}">
                <a16:creationId xmlns:a16="http://schemas.microsoft.com/office/drawing/2014/main" id="{3E776E10-D94B-377A-9D6F-B65A2DF197D7}"/>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64365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7689-70C1-F0AE-39F6-B3C3767F6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861A5-6F6D-4625-8FB1-566A743373A4}"/>
              </a:ext>
            </a:extLst>
          </p:cNvPr>
          <p:cNvSpPr>
            <a:spLocks noGrp="1"/>
          </p:cNvSpPr>
          <p:nvPr>
            <p:ph type="title"/>
          </p:nvPr>
        </p:nvSpPr>
        <p:spPr>
          <a:xfrm>
            <a:off x="3863789" y="2226515"/>
            <a:ext cx="3626224" cy="2404969"/>
          </a:xfrm>
        </p:spPr>
        <p:txBody>
          <a:bodyPr>
            <a:normAutofit/>
          </a:bodyPr>
          <a:lstStyle/>
          <a:p>
            <a:r>
              <a:rPr lang="en-US" sz="6000" b="1" dirty="0">
                <a:latin typeface="Calibri" panose="020F0502020204030204" pitchFamily="34" charset="0"/>
                <a:cs typeface="Calibri" panose="020F0502020204030204" pitchFamily="34" charset="0"/>
              </a:rPr>
              <a:t>Thank You </a:t>
            </a:r>
            <a:br>
              <a:rPr lang="en-US" sz="6000" dirty="0">
                <a:latin typeface="Calibri" panose="020F0502020204030204" pitchFamily="34" charset="0"/>
                <a:cs typeface="Calibri" panose="020F0502020204030204" pitchFamily="34" charset="0"/>
              </a:rPr>
            </a:br>
            <a:endParaRPr lang="en-US" sz="6000" dirty="0">
              <a:latin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6539EF5A-0C6A-054E-9BF0-DC84336E42B4}"/>
              </a:ext>
            </a:extLst>
          </p:cNvPr>
          <p:cNvSpPr/>
          <p:nvPr/>
        </p:nvSpPr>
        <p:spPr>
          <a:xfrm>
            <a:off x="-14068" y="6254745"/>
            <a:ext cx="12206068" cy="6454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Block Arc 6">
            <a:extLst>
              <a:ext uri="{FF2B5EF4-FFF2-40B4-BE49-F238E27FC236}">
                <a16:creationId xmlns:a16="http://schemas.microsoft.com/office/drawing/2014/main" id="{5039B264-8FD0-0067-C22E-1FB4F5B97DE6}"/>
              </a:ext>
            </a:extLst>
          </p:cNvPr>
          <p:cNvSpPr/>
          <p:nvPr/>
        </p:nvSpPr>
        <p:spPr>
          <a:xfrm>
            <a:off x="9932894" y="2839191"/>
            <a:ext cx="2259106" cy="3415553"/>
          </a:xfrm>
          <a:custGeom>
            <a:avLst/>
            <a:gdLst>
              <a:gd name="connsiteX0" fmla="*/ 0 w 4477871"/>
              <a:gd name="connsiteY0" fmla="*/ 3415553 h 6831106"/>
              <a:gd name="connsiteX1" fmla="*/ 2238936 w 4477871"/>
              <a:gd name="connsiteY1" fmla="*/ 0 h 6831106"/>
              <a:gd name="connsiteX2" fmla="*/ 4477872 w 4477871"/>
              <a:gd name="connsiteY2" fmla="*/ 3415553 h 6831106"/>
              <a:gd name="connsiteX3" fmla="*/ 3358403 w 4477871"/>
              <a:gd name="connsiteY3" fmla="*/ 3415553 h 6831106"/>
              <a:gd name="connsiteX4" fmla="*/ 2238935 w 4477871"/>
              <a:gd name="connsiteY4" fmla="*/ 1119468 h 6831106"/>
              <a:gd name="connsiteX5" fmla="*/ 1119467 w 4477871"/>
              <a:gd name="connsiteY5" fmla="*/ 3415553 h 6831106"/>
              <a:gd name="connsiteX6" fmla="*/ 0 w 4477871"/>
              <a:gd name="connsiteY6" fmla="*/ 3415553 h 6831106"/>
              <a:gd name="connsiteX0" fmla="*/ 0 w 3358403"/>
              <a:gd name="connsiteY0" fmla="*/ 3415553 h 3415553"/>
              <a:gd name="connsiteX1" fmla="*/ 2238936 w 3358403"/>
              <a:gd name="connsiteY1" fmla="*/ 0 h 3415553"/>
              <a:gd name="connsiteX2" fmla="*/ 3358403 w 3358403"/>
              <a:gd name="connsiteY2" fmla="*/ 3415553 h 3415553"/>
              <a:gd name="connsiteX3" fmla="*/ 2238935 w 3358403"/>
              <a:gd name="connsiteY3" fmla="*/ 1119468 h 3415553"/>
              <a:gd name="connsiteX4" fmla="*/ 1119467 w 3358403"/>
              <a:gd name="connsiteY4" fmla="*/ 3415553 h 3415553"/>
              <a:gd name="connsiteX5" fmla="*/ 0 w 3358403"/>
              <a:gd name="connsiteY5" fmla="*/ 3415553 h 3415553"/>
              <a:gd name="connsiteX0" fmla="*/ 0 w 2454377"/>
              <a:gd name="connsiteY0" fmla="*/ 3505097 h 3505097"/>
              <a:gd name="connsiteX1" fmla="*/ 2238936 w 2454377"/>
              <a:gd name="connsiteY1" fmla="*/ 89544 h 3505097"/>
              <a:gd name="connsiteX2" fmla="*/ 2238935 w 2454377"/>
              <a:gd name="connsiteY2" fmla="*/ 1209012 h 3505097"/>
              <a:gd name="connsiteX3" fmla="*/ 1119467 w 2454377"/>
              <a:gd name="connsiteY3" fmla="*/ 3505097 h 3505097"/>
              <a:gd name="connsiteX4" fmla="*/ 0 w 2454377"/>
              <a:gd name="connsiteY4" fmla="*/ 3505097 h 3505097"/>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12784"/>
              <a:gd name="connsiteY0" fmla="*/ 3552232 h 3552232"/>
              <a:gd name="connsiteX1" fmla="*/ 2238936 w 2712784"/>
              <a:gd name="connsiteY1" fmla="*/ 136679 h 3552232"/>
              <a:gd name="connsiteX2" fmla="*/ 2238935 w 2712784"/>
              <a:gd name="connsiteY2" fmla="*/ 1256147 h 3552232"/>
              <a:gd name="connsiteX3" fmla="*/ 1119467 w 2712784"/>
              <a:gd name="connsiteY3" fmla="*/ 3552232 h 3552232"/>
              <a:gd name="connsiteX4" fmla="*/ 0 w 2712784"/>
              <a:gd name="connsiteY4" fmla="*/ 3552232 h 3552232"/>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 name="connsiteX0" fmla="*/ 0 w 2795707"/>
              <a:gd name="connsiteY0" fmla="*/ 3493623 h 3493623"/>
              <a:gd name="connsiteX1" fmla="*/ 2238936 w 2795707"/>
              <a:gd name="connsiteY1" fmla="*/ 78070 h 3493623"/>
              <a:gd name="connsiteX2" fmla="*/ 2238935 w 2795707"/>
              <a:gd name="connsiteY2" fmla="*/ 1197538 h 3493623"/>
              <a:gd name="connsiteX3" fmla="*/ 1119467 w 2795707"/>
              <a:gd name="connsiteY3" fmla="*/ 3493623 h 3493623"/>
              <a:gd name="connsiteX4" fmla="*/ 0 w 2795707"/>
              <a:gd name="connsiteY4" fmla="*/ 3493623 h 3493623"/>
              <a:gd name="connsiteX0" fmla="*/ 0 w 2238936"/>
              <a:gd name="connsiteY0" fmla="*/ 3415553 h 3415553"/>
              <a:gd name="connsiteX1" fmla="*/ 2238936 w 2238936"/>
              <a:gd name="connsiteY1" fmla="*/ 0 h 3415553"/>
              <a:gd name="connsiteX2" fmla="*/ 2238935 w 2238936"/>
              <a:gd name="connsiteY2" fmla="*/ 1119468 h 3415553"/>
              <a:gd name="connsiteX3" fmla="*/ 1119467 w 2238936"/>
              <a:gd name="connsiteY3" fmla="*/ 3415553 h 3415553"/>
              <a:gd name="connsiteX4" fmla="*/ 0 w 2238936"/>
              <a:gd name="connsiteY4" fmla="*/ 3415553 h 341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936" h="3415553">
                <a:moveTo>
                  <a:pt x="0" y="3415553"/>
                </a:moveTo>
                <a:cubicBezTo>
                  <a:pt x="0" y="1529195"/>
                  <a:pt x="986199" y="382681"/>
                  <a:pt x="2238936" y="0"/>
                </a:cubicBezTo>
                <a:cubicBezTo>
                  <a:pt x="2238936" y="373156"/>
                  <a:pt x="2238935" y="746312"/>
                  <a:pt x="2238935" y="1119468"/>
                </a:cubicBezTo>
                <a:cubicBezTo>
                  <a:pt x="1620670" y="1119468"/>
                  <a:pt x="1119467" y="2147460"/>
                  <a:pt x="1119467" y="3415553"/>
                </a:cubicBezTo>
                <a:lnTo>
                  <a:pt x="0" y="3415553"/>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50301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470</TotalTime>
  <Words>1397</Words>
  <Application>Microsoft Office PowerPoint</Application>
  <PresentationFormat>Widescreen</PresentationFormat>
  <Paragraphs>141</Paragraphs>
  <Slides>14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MTN Customer Churn Analysis Dashboard</vt:lpstr>
      <vt:lpstr>Project Overview</vt:lpstr>
      <vt:lpstr>Project Workflow</vt:lpstr>
      <vt:lpstr>Project Workflow</vt:lpstr>
      <vt:lpstr>Dashboard Overview</vt:lpstr>
      <vt:lpstr>Executive Overview Dashboard </vt:lpstr>
      <vt:lpstr>Customer Demographics Dashboard </vt:lpstr>
      <vt:lpstr>Revenue &amp; Customer Value Dashboard </vt:lpstr>
      <vt:lpstr>Churn Deep Dive Dashboard </vt:lpstr>
      <vt:lpstr>Customer Retention &amp; Risk Dashboard </vt:lpstr>
      <vt:lpstr>Strategic Recommendation </vt:lpstr>
      <vt:lpstr>Technical Stack </vt:lpstr>
      <vt:lpstr>Lessons Learned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Olawale Yakub</dc:creator>
  <cp:lastModifiedBy>Olawale Yakub</cp:lastModifiedBy>
  <cp:revision>5</cp:revision>
  <dcterms:created xsi:type="dcterms:W3CDTF">2026-07-02T07:02:43Z</dcterms:created>
  <dcterms:modified xsi:type="dcterms:W3CDTF">2026-07-20T22:04:07Z</dcterms:modified>
</cp:coreProperties>
</file>